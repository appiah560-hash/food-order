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303" r:id="rId2"/>
    <p:sldId id="260" r:id="rId3"/>
    <p:sldId id="256" r:id="rId4"/>
    <p:sldId id="259" r:id="rId5"/>
    <p:sldId id="257"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3" r:id="rId19"/>
    <p:sldId id="272"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4" r:id="rId41"/>
    <p:sldId id="296" r:id="rId42"/>
    <p:sldId id="297" r:id="rId43"/>
    <p:sldId id="298" r:id="rId44"/>
    <p:sldId id="299" r:id="rId45"/>
    <p:sldId id="301" r:id="rId46"/>
    <p:sldId id="300"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90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6D483771-179A-447E-939D-4D24BCD0979A}" type="datetimeFigureOut">
              <a:rPr lang="en-GH" smtClean="0"/>
              <a:t>06/08/2026</a:t>
            </a:fld>
            <a:endParaRPr lang="en-GH"/>
          </a:p>
        </p:txBody>
      </p:sp>
      <p:sp>
        <p:nvSpPr>
          <p:cNvPr id="5" name="Footer Placeholder 4"/>
          <p:cNvSpPr>
            <a:spLocks noGrp="1"/>
          </p:cNvSpPr>
          <p:nvPr>
            <p:ph type="ftr" sz="quarter" idx="11"/>
          </p:nvPr>
        </p:nvSpPr>
        <p:spPr>
          <a:xfrm>
            <a:off x="1371600" y="4323845"/>
            <a:ext cx="6400800" cy="365125"/>
          </a:xfrm>
        </p:spPr>
        <p:txBody>
          <a:bodyPr/>
          <a:lstStyle/>
          <a:p>
            <a:endParaRPr lang="en-GH"/>
          </a:p>
        </p:txBody>
      </p:sp>
      <p:sp>
        <p:nvSpPr>
          <p:cNvPr id="6" name="Slide Number Placeholder 5"/>
          <p:cNvSpPr>
            <a:spLocks noGrp="1"/>
          </p:cNvSpPr>
          <p:nvPr>
            <p:ph type="sldNum" sz="quarter" idx="12"/>
          </p:nvPr>
        </p:nvSpPr>
        <p:spPr>
          <a:xfrm>
            <a:off x="8077200" y="1430866"/>
            <a:ext cx="2743200" cy="365125"/>
          </a:xfrm>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1917930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483771-179A-447E-939D-4D24BCD0979A}" type="datetimeFigureOut">
              <a:rPr lang="en-GH" smtClean="0"/>
              <a:t>06/08/2026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3766605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6D483771-179A-447E-939D-4D24BCD0979A}" type="datetimeFigureOut">
              <a:rPr lang="en-GH" smtClean="0"/>
              <a:t>06/08/2026</a:t>
            </a:fld>
            <a:endParaRPr lang="en-GH"/>
          </a:p>
        </p:txBody>
      </p:sp>
      <p:sp>
        <p:nvSpPr>
          <p:cNvPr id="5" name="Footer Placeholder 4"/>
          <p:cNvSpPr>
            <a:spLocks noGrp="1"/>
          </p:cNvSpPr>
          <p:nvPr>
            <p:ph type="ftr" sz="quarter" idx="11"/>
          </p:nvPr>
        </p:nvSpPr>
        <p:spPr>
          <a:xfrm>
            <a:off x="685800" y="381001"/>
            <a:ext cx="6991492" cy="364065"/>
          </a:xfrm>
        </p:spPr>
        <p:txBody>
          <a:bodyPr/>
          <a:lstStyle/>
          <a:p>
            <a:endParaRPr lang="en-GH"/>
          </a:p>
        </p:txBody>
      </p:sp>
      <p:sp>
        <p:nvSpPr>
          <p:cNvPr id="6" name="Slide Number Placeholder 5"/>
          <p:cNvSpPr>
            <a:spLocks noGrp="1"/>
          </p:cNvSpPr>
          <p:nvPr>
            <p:ph type="sldNum" sz="quarter" idx="12"/>
          </p:nvPr>
        </p:nvSpPr>
        <p:spPr>
          <a:xfrm>
            <a:off x="10862452" y="381000"/>
            <a:ext cx="643748" cy="365125"/>
          </a:xfrm>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139873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3217410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483771-179A-447E-939D-4D24BCD0979A}" type="datetimeFigureOut">
              <a:rPr lang="en-GH" smtClean="0"/>
              <a:t>06/08/2026</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213758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483771-179A-447E-939D-4D24BCD0979A}" type="datetimeFigureOut">
              <a:rPr lang="en-GH" smtClean="0"/>
              <a:t>06/08/2026</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3654363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483771-179A-447E-939D-4D24BCD0979A}" type="datetimeFigureOut">
              <a:rPr lang="en-GH" smtClean="0"/>
              <a:t>06/08/2026</a:t>
            </a:fld>
            <a:endParaRPr lang="en-GH"/>
          </a:p>
        </p:txBody>
      </p:sp>
      <p:sp>
        <p:nvSpPr>
          <p:cNvPr id="3" name="Footer Placeholder 2"/>
          <p:cNvSpPr>
            <a:spLocks noGrp="1"/>
          </p:cNvSpPr>
          <p:nvPr>
            <p:ph type="ftr" sz="quarter" idx="11"/>
          </p:nvPr>
        </p:nvSpPr>
        <p:spPr/>
        <p:txBody>
          <a:bodyPr/>
          <a:lstStyle/>
          <a:p>
            <a:endParaRPr lang="en-GH"/>
          </a:p>
        </p:txBody>
      </p:sp>
      <p:sp>
        <p:nvSpPr>
          <p:cNvPr id="4" name="Slide Number Placeholder 3"/>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2571575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115426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3259012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2048779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a:xfrm>
            <a:off x="685800" y="379941"/>
            <a:ext cx="6991492" cy="365125"/>
          </a:xfrm>
        </p:spPr>
        <p:txBody>
          <a:bodyPr/>
          <a:lstStyle/>
          <a:p>
            <a:endParaRPr lang="en-GH"/>
          </a:p>
        </p:txBody>
      </p:sp>
      <p:sp>
        <p:nvSpPr>
          <p:cNvPr id="7" name="Slide Number Placeholder 6"/>
          <p:cNvSpPr>
            <a:spLocks noGrp="1"/>
          </p:cNvSpPr>
          <p:nvPr>
            <p:ph type="sldNum" sz="quarter" idx="12"/>
          </p:nvPr>
        </p:nvSpPr>
        <p:spPr>
          <a:xfrm>
            <a:off x="10862452" y="381000"/>
            <a:ext cx="643748" cy="365125"/>
          </a:xfrm>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4124952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a:xfrm>
            <a:off x="685800" y="379941"/>
            <a:ext cx="6991492" cy="365125"/>
          </a:xfrm>
        </p:spPr>
        <p:txBody>
          <a:bodyPr/>
          <a:lstStyle/>
          <a:p>
            <a:endParaRPr lang="en-GH"/>
          </a:p>
        </p:txBody>
      </p:sp>
      <p:sp>
        <p:nvSpPr>
          <p:cNvPr id="7" name="Slide Number Placeholder 6"/>
          <p:cNvSpPr>
            <a:spLocks noGrp="1"/>
          </p:cNvSpPr>
          <p:nvPr>
            <p:ph type="sldNum" sz="quarter" idx="12"/>
          </p:nvPr>
        </p:nvSpPr>
        <p:spPr>
          <a:xfrm>
            <a:off x="10862452" y="381000"/>
            <a:ext cx="643748" cy="365125"/>
          </a:xfrm>
        </p:spPr>
        <p:txBody>
          <a:bodyPr/>
          <a:lstStyle/>
          <a:p>
            <a:fld id="{85918102-62C6-4B4C-9631-A867D9067465}" type="slidenum">
              <a:rPr lang="en-GH" smtClean="0"/>
              <a:t>‹#›</a:t>
            </a:fld>
            <a:endParaRPr lang="en-GH"/>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782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6D483771-179A-447E-939D-4D24BCD0979A}" type="datetimeFigureOut">
              <a:rPr lang="en-GH" smtClean="0"/>
              <a:t>06/08/2026</a:t>
            </a:fld>
            <a:endParaRPr lang="en-GH"/>
          </a:p>
        </p:txBody>
      </p:sp>
      <p:sp>
        <p:nvSpPr>
          <p:cNvPr id="6" name="Footer Placeholder 5"/>
          <p:cNvSpPr>
            <a:spLocks noGrp="1"/>
          </p:cNvSpPr>
          <p:nvPr>
            <p:ph type="ftr" sz="quarter" idx="11"/>
          </p:nvPr>
        </p:nvSpPr>
        <p:spPr>
          <a:xfrm>
            <a:off x="685800" y="378883"/>
            <a:ext cx="6991492" cy="365125"/>
          </a:xfrm>
        </p:spPr>
        <p:txBody>
          <a:bodyPr/>
          <a:lstStyle/>
          <a:p>
            <a:endParaRPr lang="en-GH"/>
          </a:p>
        </p:txBody>
      </p:sp>
      <p:sp>
        <p:nvSpPr>
          <p:cNvPr id="7" name="Slide Number Placeholder 6"/>
          <p:cNvSpPr>
            <a:spLocks noGrp="1"/>
          </p:cNvSpPr>
          <p:nvPr>
            <p:ph type="sldNum" sz="quarter" idx="12"/>
          </p:nvPr>
        </p:nvSpPr>
        <p:spPr>
          <a:xfrm>
            <a:off x="10862452" y="381000"/>
            <a:ext cx="643748" cy="365125"/>
          </a:xfrm>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314598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D483771-179A-447E-939D-4D24BCD0979A}" type="datetimeFigureOut">
              <a:rPr lang="en-GH" smtClean="0"/>
              <a:t>06/08/2026</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73029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D483771-179A-447E-939D-4D24BCD0979A}" type="datetimeFigureOut">
              <a:rPr lang="en-GH" smtClean="0"/>
              <a:t>06/08/2026</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1361002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483771-179A-447E-939D-4D24BCD0979A}" type="datetimeFigureOut">
              <a:rPr lang="en-GH" smtClean="0"/>
              <a:t>06/08/2026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1079985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6D483771-179A-447E-939D-4D24BCD0979A}" type="datetimeFigureOut">
              <a:rPr lang="en-GH" smtClean="0"/>
              <a:t>06/08/2026</a:t>
            </a:fld>
            <a:endParaRPr lang="en-GH"/>
          </a:p>
        </p:txBody>
      </p:sp>
      <p:sp>
        <p:nvSpPr>
          <p:cNvPr id="5" name="Footer Placeholder 4"/>
          <p:cNvSpPr>
            <a:spLocks noGrp="1"/>
          </p:cNvSpPr>
          <p:nvPr>
            <p:ph type="ftr" sz="quarter" idx="11"/>
          </p:nvPr>
        </p:nvSpPr>
        <p:spPr>
          <a:xfrm>
            <a:off x="685800" y="381000"/>
            <a:ext cx="6991492" cy="365125"/>
          </a:xfrm>
        </p:spPr>
        <p:txBody>
          <a:bodyPr/>
          <a:lstStyle/>
          <a:p>
            <a:endParaRPr lang="en-GH"/>
          </a:p>
        </p:txBody>
      </p:sp>
      <p:sp>
        <p:nvSpPr>
          <p:cNvPr id="6" name="Slide Number Placeholder 5"/>
          <p:cNvSpPr>
            <a:spLocks noGrp="1"/>
          </p:cNvSpPr>
          <p:nvPr>
            <p:ph type="sldNum" sz="quarter" idx="12"/>
          </p:nvPr>
        </p:nvSpPr>
        <p:spPr>
          <a:xfrm>
            <a:off x="10862452" y="381000"/>
            <a:ext cx="643748" cy="365125"/>
          </a:xfrm>
        </p:spPr>
        <p:txBody>
          <a:bodyPr/>
          <a:lstStyle/>
          <a:p>
            <a:fld id="{85918102-62C6-4B4C-9631-A867D9067465}" type="slidenum">
              <a:rPr lang="en-GH" smtClean="0"/>
              <a:t>‹#›</a:t>
            </a:fld>
            <a:endParaRPr lang="en-GH"/>
          </a:p>
        </p:txBody>
      </p:sp>
    </p:spTree>
    <p:extLst>
      <p:ext uri="{BB962C8B-B14F-4D97-AF65-F5344CB8AC3E}">
        <p14:creationId xmlns:p14="http://schemas.microsoft.com/office/powerpoint/2010/main" val="4236692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483771-179A-447E-939D-4D24BCD0979A}" type="datetimeFigureOut">
              <a:rPr lang="en-GH" smtClean="0"/>
              <a:t>06/08/2026</a:t>
            </a:fld>
            <a:endParaRPr lang="en-GH"/>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H"/>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5918102-62C6-4B4C-9631-A867D9067465}" type="slidenum">
              <a:rPr lang="en-GH" smtClean="0"/>
              <a:t>‹#›</a:t>
            </a:fld>
            <a:endParaRPr lang="en-GH"/>
          </a:p>
        </p:txBody>
      </p:sp>
    </p:spTree>
    <p:extLst>
      <p:ext uri="{BB962C8B-B14F-4D97-AF65-F5344CB8AC3E}">
        <p14:creationId xmlns:p14="http://schemas.microsoft.com/office/powerpoint/2010/main" val="61101695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oracle.com/africa/artificial-intelligence/ai-agents/" TargetMode="External"/><Relationship Id="rId2" Type="http://schemas.openxmlformats.org/officeDocument/2006/relationships/hyperlink" Target="https://www.oracle.com/africa/artificial-intelligence/what-is-ai/"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www.oracle.com/africa/applications/fusion-ai/steve-miranda-ai-agents-business-productivit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oracle.com/africa/database/vector-databas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oracle.com/africa/artificial-intelligence/generative-ai/retrieval-augmented-generation-rag/" TargetMode="External"/><Relationship Id="rId2" Type="http://schemas.openxmlformats.org/officeDocument/2006/relationships/hyperlink" Target="https://docs.oracle.com/en-us/iaas/Content/generative-ai/embed-models.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oracle.com/africa/artificial-intelligence/machine-learning/what-is-machine-learn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oracle.com/africa/artificial-intelligence/machine-learning/what-is-deep-learning/#deep-learning-neutral-network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oracle.com/africa/artificial-intelligence/generative-ai/retrieval-augmented-generation-rag/rag-fine-tuning/#what-is-fine-tuni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oracle.com/africa/artificial-intelligence/machine-learning/reinforcement-learning/"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blogs.oracle.com/database/post/graph-rag-bring-the-power-of-graphs-to-generative-ai"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AD614-1E2E-10B4-5E12-D1EF6E502C05}"/>
              </a:ext>
            </a:extLst>
          </p:cNvPr>
          <p:cNvSpPr>
            <a:spLocks noGrp="1"/>
          </p:cNvSpPr>
          <p:nvPr>
            <p:ph type="ctrTitle"/>
          </p:nvPr>
        </p:nvSpPr>
        <p:spPr>
          <a:xfrm>
            <a:off x="1391920" y="2301240"/>
            <a:ext cx="10119360" cy="2072640"/>
          </a:xfrm>
        </p:spPr>
        <p:txBody>
          <a:bodyPr>
            <a:normAutofit fontScale="90000"/>
          </a:bodyPr>
          <a:lstStyle/>
          <a:p>
            <a:r>
              <a:rPr lang="en-US" sz="8000" b="1" dirty="0"/>
              <a:t>NATURAL LANGUAGE PROCESSING</a:t>
            </a:r>
          </a:p>
        </p:txBody>
      </p:sp>
      <p:sp>
        <p:nvSpPr>
          <p:cNvPr id="3" name="Subtitle 2">
            <a:extLst>
              <a:ext uri="{FF2B5EF4-FFF2-40B4-BE49-F238E27FC236}">
                <a16:creationId xmlns:a16="http://schemas.microsoft.com/office/drawing/2014/main" id="{BA9351B3-AF9E-219A-3DC5-7783F43A125D}"/>
              </a:ext>
            </a:extLst>
          </p:cNvPr>
          <p:cNvSpPr>
            <a:spLocks noGrp="1"/>
          </p:cNvSpPr>
          <p:nvPr>
            <p:ph type="subTitle" idx="1"/>
          </p:nvPr>
        </p:nvSpPr>
        <p:spPr>
          <a:xfrm>
            <a:off x="1463040" y="1661160"/>
            <a:ext cx="9072880" cy="685800"/>
          </a:xfrm>
        </p:spPr>
        <p:txBody>
          <a:bodyPr>
            <a:normAutofit/>
          </a:bodyPr>
          <a:lstStyle/>
          <a:p>
            <a:r>
              <a:rPr lang="en-US" sz="4000" b="1" dirty="0"/>
              <a:t>PRESENTATION ON</a:t>
            </a:r>
          </a:p>
        </p:txBody>
      </p:sp>
    </p:spTree>
    <p:extLst>
      <p:ext uri="{BB962C8B-B14F-4D97-AF65-F5344CB8AC3E}">
        <p14:creationId xmlns:p14="http://schemas.microsoft.com/office/powerpoint/2010/main" val="3977358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339C4-FE0C-774E-C02B-50FE94AA43B1}"/>
              </a:ext>
            </a:extLst>
          </p:cNvPr>
          <p:cNvSpPr>
            <a:spLocks noGrp="1"/>
          </p:cNvSpPr>
          <p:nvPr>
            <p:ph type="title"/>
          </p:nvPr>
        </p:nvSpPr>
        <p:spPr>
          <a:xfrm>
            <a:off x="838200" y="1767840"/>
            <a:ext cx="10515600" cy="3586480"/>
          </a:xfrm>
        </p:spPr>
        <p:txBody>
          <a:bodyPr>
            <a:normAutofit/>
          </a:bodyPr>
          <a:lstStyle/>
          <a:p>
            <a:pPr algn="ctr"/>
            <a:r>
              <a:rPr lang="en-GH" sz="6600" b="1" dirty="0">
                <a:effectLst/>
                <a:ea typeface="Times New Roman" panose="02020603050405020304" pitchFamily="18" charset="0"/>
                <a:cs typeface="Times New Roman" panose="02020603050405020304" pitchFamily="18" charset="0"/>
              </a:rPr>
              <a:t>What Is </a:t>
            </a:r>
            <a:r>
              <a:rPr lang="en-US" sz="6600" b="1" dirty="0">
                <a:effectLst/>
                <a:ea typeface="Times New Roman" panose="02020603050405020304" pitchFamily="18" charset="0"/>
                <a:cs typeface="Times New Roman" panose="02020603050405020304" pitchFamily="18" charset="0"/>
              </a:rPr>
              <a:t>Natural </a:t>
            </a:r>
            <a:br>
              <a:rPr lang="en-US" sz="6600" b="1" dirty="0">
                <a:effectLst/>
                <a:ea typeface="Times New Roman" panose="02020603050405020304" pitchFamily="18" charset="0"/>
                <a:cs typeface="Times New Roman" panose="02020603050405020304" pitchFamily="18" charset="0"/>
              </a:rPr>
            </a:br>
            <a:r>
              <a:rPr lang="en-US" sz="6600" b="1" dirty="0">
                <a:effectLst/>
                <a:ea typeface="Times New Roman" panose="02020603050405020304" pitchFamily="18" charset="0"/>
                <a:cs typeface="Times New Roman" panose="02020603050405020304" pitchFamily="18" charset="0"/>
              </a:rPr>
              <a:t>Language Processing </a:t>
            </a:r>
            <a:r>
              <a:rPr lang="en-GH" sz="6600" b="1" dirty="0">
                <a:ea typeface="Times New Roman" panose="02020603050405020304" pitchFamily="18" charset="0"/>
                <a:cs typeface="Times New Roman" panose="02020603050405020304" pitchFamily="18" charset="0"/>
              </a:rPr>
              <a:t>NLP</a:t>
            </a:r>
            <a:r>
              <a:rPr lang="en-GH" sz="6600" b="1" dirty="0">
                <a:effectLst/>
                <a:ea typeface="Times New Roman" panose="02020603050405020304" pitchFamily="18" charset="0"/>
                <a:cs typeface="Times New Roman" panose="02020603050405020304" pitchFamily="18" charset="0"/>
              </a:rPr>
              <a:t>?</a:t>
            </a:r>
            <a:endParaRPr lang="en-GH" sz="6600" dirty="0"/>
          </a:p>
        </p:txBody>
      </p:sp>
    </p:spTree>
    <p:extLst>
      <p:ext uri="{BB962C8B-B14F-4D97-AF65-F5344CB8AC3E}">
        <p14:creationId xmlns:p14="http://schemas.microsoft.com/office/powerpoint/2010/main" val="4076194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F02C32-EEAE-737E-CB7B-4BE9A199305D}"/>
              </a:ext>
            </a:extLst>
          </p:cNvPr>
          <p:cNvSpPr txBox="1"/>
          <p:nvPr/>
        </p:nvSpPr>
        <p:spPr>
          <a:xfrm>
            <a:off x="425777" y="1395166"/>
            <a:ext cx="11340445" cy="4666983"/>
          </a:xfrm>
          <a:prstGeom prst="rect">
            <a:avLst/>
          </a:prstGeom>
          <a:noFill/>
        </p:spPr>
        <p:txBody>
          <a:bodyPr wrap="square" rtlCol="0">
            <a:spAutoFit/>
          </a:bodyPr>
          <a:lstStyle/>
          <a:p>
            <a:pPr>
              <a:lnSpc>
                <a:spcPct val="107000"/>
              </a:lnSpc>
              <a:spcAft>
                <a:spcPts val="800"/>
              </a:spcAft>
            </a:pPr>
            <a:r>
              <a:rPr lang="en-GH" sz="2800" dirty="0">
                <a:effectLst/>
                <a:latin typeface="+mj-lt"/>
                <a:ea typeface="Times New Roman" panose="02020603050405020304" pitchFamily="18" charset="0"/>
                <a:cs typeface="Times New Roman" panose="02020603050405020304" pitchFamily="18" charset="0"/>
              </a:rPr>
              <a:t>NLP is a branch of </a:t>
            </a:r>
            <a:r>
              <a:rPr lang="en-GH" sz="2800" u="none" strike="noStrike" dirty="0">
                <a:solidFill>
                  <a:srgbClr val="006B8F"/>
                </a:solidFill>
                <a:effectLst/>
                <a:latin typeface="+mj-lt"/>
                <a:ea typeface="Times New Roman" panose="02020603050405020304" pitchFamily="18" charset="0"/>
                <a:cs typeface="Times New Roman" panose="02020603050405020304" pitchFamily="18" charset="0"/>
                <a:hlinkClick r:id="rId2"/>
              </a:rPr>
              <a:t>artificial intelligence</a:t>
            </a:r>
            <a:r>
              <a:rPr lang="en-GH" sz="2800" dirty="0">
                <a:effectLst/>
                <a:latin typeface="+mj-lt"/>
                <a:ea typeface="Times New Roman" panose="02020603050405020304" pitchFamily="18" charset="0"/>
                <a:cs typeface="Times New Roman" panose="02020603050405020304" pitchFamily="18" charset="0"/>
              </a:rPr>
              <a:t> that enables computers to comprehend, generate, and manipulate human language. NLP applies to both speech and written text and can be used with all human languages. Some technologies and methods for NLP that have been around for decades have recently seen significant improvements, and in the last few years, popular LLMs, which depend on NLP techniques, have brought it into wider use. And the incorporation of LLMs into more complex work processes—in the form of </a:t>
            </a:r>
            <a:r>
              <a:rPr lang="en-GH" sz="2800" u="none" strike="noStrike" dirty="0">
                <a:solidFill>
                  <a:srgbClr val="006B8F"/>
                </a:solidFill>
                <a:effectLst/>
                <a:latin typeface="+mj-lt"/>
                <a:ea typeface="Times New Roman" panose="02020603050405020304" pitchFamily="18" charset="0"/>
                <a:cs typeface="Times New Roman" panose="02020603050405020304" pitchFamily="18" charset="0"/>
                <a:hlinkClick r:id="rId3"/>
              </a:rPr>
              <a:t>AI agents</a:t>
            </a:r>
            <a:r>
              <a:rPr lang="en-GH" sz="2800" dirty="0">
                <a:effectLst/>
                <a:latin typeface="+mj-lt"/>
                <a:ea typeface="Times New Roman" panose="02020603050405020304" pitchFamily="18" charset="0"/>
                <a:cs typeface="Times New Roman" panose="02020603050405020304" pitchFamily="18" charset="0"/>
              </a:rPr>
              <a:t>—is set to increase the use of NLP in everyday life.</a:t>
            </a:r>
            <a:endParaRPr lang="en-GH" sz="28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4915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D910-3320-7797-4FFE-92E3D199AD3F}"/>
              </a:ext>
            </a:extLst>
          </p:cNvPr>
          <p:cNvSpPr>
            <a:spLocks noGrp="1"/>
          </p:cNvSpPr>
          <p:nvPr>
            <p:ph type="ctrTitle"/>
          </p:nvPr>
        </p:nvSpPr>
        <p:spPr>
          <a:xfrm>
            <a:off x="1524000" y="1645920"/>
            <a:ext cx="9144000" cy="2702559"/>
          </a:xfrm>
        </p:spPr>
        <p:txBody>
          <a:bodyPr>
            <a:normAutofit/>
          </a:bodyPr>
          <a:lstStyle/>
          <a:p>
            <a:pPr algn="ctr"/>
            <a:r>
              <a:rPr lang="en-GH" sz="8800" b="1" dirty="0">
                <a:effectLst/>
                <a:ea typeface="Times New Roman" panose="02020603050405020304" pitchFamily="18" charset="0"/>
                <a:cs typeface="Times New Roman" panose="02020603050405020304" pitchFamily="18" charset="0"/>
              </a:rPr>
              <a:t>Definition and Overview</a:t>
            </a:r>
            <a:endParaRPr lang="en-GH" sz="8800" dirty="0"/>
          </a:p>
        </p:txBody>
      </p:sp>
    </p:spTree>
    <p:extLst>
      <p:ext uri="{BB962C8B-B14F-4D97-AF65-F5344CB8AC3E}">
        <p14:creationId xmlns:p14="http://schemas.microsoft.com/office/powerpoint/2010/main" val="223293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C68545-903A-7544-E7D9-7FE992D20345}"/>
              </a:ext>
            </a:extLst>
          </p:cNvPr>
          <p:cNvSpPr txBox="1"/>
          <p:nvPr/>
        </p:nvSpPr>
        <p:spPr>
          <a:xfrm>
            <a:off x="735291" y="1272619"/>
            <a:ext cx="10991654" cy="5128007"/>
          </a:xfrm>
          <a:prstGeom prst="rect">
            <a:avLst/>
          </a:prstGeom>
          <a:noFill/>
        </p:spPr>
        <p:txBody>
          <a:bodyPr wrap="square" rtlCol="0">
            <a:spAutoFit/>
          </a:bodyPr>
          <a:lstStyle/>
          <a:p>
            <a:pPr>
              <a:lnSpc>
                <a:spcPct val="107000"/>
              </a:lnSpc>
              <a:spcAft>
                <a:spcPts val="1320"/>
              </a:spcAft>
            </a:pPr>
            <a:r>
              <a:rPr lang="en-GH" sz="2800" dirty="0">
                <a:effectLst/>
                <a:latin typeface="+mj-lt"/>
                <a:ea typeface="Times New Roman" panose="02020603050405020304" pitchFamily="18" charset="0"/>
                <a:cs typeface="Times New Roman" panose="02020603050405020304" pitchFamily="18" charset="0"/>
              </a:rPr>
              <a:t>Today’s LLMs arise out of the scientific field of computational linguistics, or CL, which studies the computational </a:t>
            </a:r>
            <a:r>
              <a:rPr lang="en-GH" sz="2800" dirty="0" err="1">
                <a:effectLst/>
                <a:latin typeface="+mj-lt"/>
                <a:ea typeface="Times New Roman" panose="02020603050405020304" pitchFamily="18" charset="0"/>
                <a:cs typeface="Times New Roman" panose="02020603050405020304" pitchFamily="18" charset="0"/>
              </a:rPr>
              <a:t>modeling</a:t>
            </a:r>
            <a:r>
              <a:rPr lang="en-GH" sz="2800" dirty="0">
                <a:effectLst/>
                <a:latin typeface="+mj-lt"/>
                <a:ea typeface="Times New Roman" panose="02020603050405020304" pitchFamily="18" charset="0"/>
                <a:cs typeface="Times New Roman" panose="02020603050405020304" pitchFamily="18" charset="0"/>
              </a:rPr>
              <a:t> of human language, while NLP is the engineering discipline concerned with building computational methods that help computers understand, generate, and manipulate human language. Major breakthroughs of the past decade have been powered by machine learning, a branch of AI that develops systems that learn by example. Developments of the past few years have enabled machine learning to understand very complex patterns in large data sets, making it ideally suited to learning the intricacies of language.</a:t>
            </a:r>
            <a:endParaRPr lang="en-GH" sz="28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42688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2541E8-23E8-0ABA-8342-8900B934CBE5}"/>
              </a:ext>
            </a:extLst>
          </p:cNvPr>
          <p:cNvSpPr txBox="1"/>
          <p:nvPr/>
        </p:nvSpPr>
        <p:spPr>
          <a:xfrm>
            <a:off x="471340" y="1244339"/>
            <a:ext cx="11444140" cy="4832092"/>
          </a:xfrm>
          <a:prstGeom prst="rect">
            <a:avLst/>
          </a:prstGeom>
          <a:noFill/>
        </p:spPr>
        <p:txBody>
          <a:bodyPr wrap="square" rtlCol="0">
            <a:spAutoFit/>
          </a:bodyPr>
          <a:lstStyle/>
          <a:p>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D</a:t>
            </a:r>
            <a:r>
              <a:rPr lang="en-GH" sz="2800" dirty="0" err="1">
                <a:effectLst/>
                <a:latin typeface="Times New Roman" panose="02020603050405020304" pitchFamily="18" charset="0"/>
                <a:ea typeface="Times New Roman" panose="02020603050405020304" pitchFamily="18" charset="0"/>
                <a:cs typeface="Times New Roman" panose="02020603050405020304" pitchFamily="18" charset="0"/>
              </a:rPr>
              <a:t>evelopers</a:t>
            </a:r>
            <a:r>
              <a:rPr lang="en-GH" sz="2800" dirty="0">
                <a:effectLst/>
                <a:latin typeface="Times New Roman" panose="02020603050405020304" pitchFamily="18" charset="0"/>
                <a:ea typeface="Times New Roman" panose="02020603050405020304" pitchFamily="18" charset="0"/>
                <a:cs typeface="Times New Roman" panose="02020603050405020304" pitchFamily="18" charset="0"/>
              </a:rPr>
              <a:t> incorporating NLP into applications take advantage of two primary branches of NLP, one focused on understanding language and the other on generating new responses to queries. Natural language understanding, or NLU, is for tasks such as sentiment analysis, entity recognition, and key-phrase extraction. These tasks require NLP applications to parse text or speech to understand what’s being said, while natural language generation, or NLG, generates answers, translations, and summarizations based on understanding the sentiments and details in human language given to it. The growing number of LLMs available from cloud vendors or from open source sites, such as Hugging Face, incorporate both NLU and NLG in their operations.</a:t>
            </a:r>
            <a:endParaRPr lang="en-GH"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H" sz="2800" dirty="0"/>
          </a:p>
        </p:txBody>
      </p:sp>
    </p:spTree>
    <p:extLst>
      <p:ext uri="{BB962C8B-B14F-4D97-AF65-F5344CB8AC3E}">
        <p14:creationId xmlns:p14="http://schemas.microsoft.com/office/powerpoint/2010/main" val="262849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4FA8-C440-9EC4-2023-A7DA238D9410}"/>
              </a:ext>
            </a:extLst>
          </p:cNvPr>
          <p:cNvSpPr>
            <a:spLocks noGrp="1"/>
          </p:cNvSpPr>
          <p:nvPr>
            <p:ph type="title"/>
          </p:nvPr>
        </p:nvSpPr>
        <p:spPr>
          <a:xfrm>
            <a:off x="3044072" y="2599278"/>
            <a:ext cx="5892538" cy="1325563"/>
          </a:xfrm>
        </p:spPr>
        <p:txBody>
          <a:bodyPr>
            <a:normAutofit/>
          </a:bodyPr>
          <a:lstStyle/>
          <a:p>
            <a:r>
              <a:rPr lang="en-GH" b="1" dirty="0">
                <a:effectLst/>
                <a:latin typeface="inherit"/>
                <a:ea typeface="Times New Roman" panose="02020603050405020304" pitchFamily="18" charset="0"/>
                <a:cs typeface="Times New Roman" panose="02020603050405020304" pitchFamily="18" charset="0"/>
              </a:rPr>
              <a:t>Why Is NLP Important?</a:t>
            </a:r>
            <a:endParaRPr lang="en-GH" dirty="0"/>
          </a:p>
        </p:txBody>
      </p:sp>
    </p:spTree>
    <p:extLst>
      <p:ext uri="{BB962C8B-B14F-4D97-AF65-F5344CB8AC3E}">
        <p14:creationId xmlns:p14="http://schemas.microsoft.com/office/powerpoint/2010/main" val="2022866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14EAA1-71E2-1314-6B04-35903389CAC0}"/>
              </a:ext>
            </a:extLst>
          </p:cNvPr>
          <p:cNvSpPr txBox="1"/>
          <p:nvPr/>
        </p:nvSpPr>
        <p:spPr>
          <a:xfrm>
            <a:off x="433633" y="1150070"/>
            <a:ext cx="11557262" cy="4832092"/>
          </a:xfrm>
          <a:prstGeom prst="rect">
            <a:avLst/>
          </a:prstGeom>
          <a:noFill/>
        </p:spPr>
        <p:txBody>
          <a:bodyPr wrap="square" rtlCol="0">
            <a:spAutoFit/>
          </a:bodyPr>
          <a:lstStyle/>
          <a:p>
            <a:r>
              <a:rPr lang="en-GH" sz="2800" dirty="0">
                <a:effectLst/>
                <a:latin typeface="Times New Roman" panose="02020603050405020304" pitchFamily="18" charset="0"/>
                <a:ea typeface="Times New Roman" panose="02020603050405020304" pitchFamily="18" charset="0"/>
                <a:cs typeface="Times New Roman" panose="02020603050405020304" pitchFamily="18" charset="0"/>
              </a:rPr>
              <a:t>Ever-improving LLMs have transformed more rudimentary NLP, which could detect the meaning of a question and apply the proper canned answer, into a flexible interlocutor trained on petabytes of general-purpose data in sophisticated neural networks. As a result, computers can now understand the structure and meaning of human languages, allowing developers and application users to carry on more nuanced conversations with them. This has implications in business, analytics, human relations, customer service, healthcare, and more—as data and documents become easily searched and summarized, they’re more valuable than ever. Below are some examples of how NLP is being used.</a:t>
            </a:r>
            <a:endParaRPr lang="en-GH"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H" sz="2800" dirty="0"/>
          </a:p>
        </p:txBody>
      </p:sp>
    </p:spTree>
    <p:extLst>
      <p:ext uri="{BB962C8B-B14F-4D97-AF65-F5344CB8AC3E}">
        <p14:creationId xmlns:p14="http://schemas.microsoft.com/office/powerpoint/2010/main" val="313316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CBB4-F60E-F2AB-2272-71F413F7B3C0}"/>
              </a:ext>
            </a:extLst>
          </p:cNvPr>
          <p:cNvSpPr>
            <a:spLocks noGrp="1"/>
          </p:cNvSpPr>
          <p:nvPr>
            <p:ph type="title"/>
          </p:nvPr>
        </p:nvSpPr>
        <p:spPr>
          <a:xfrm>
            <a:off x="3487131" y="2605962"/>
            <a:ext cx="4846163" cy="1325563"/>
          </a:xfrm>
        </p:spPr>
        <p:txBody>
          <a:bodyPr>
            <a:normAutofit/>
          </a:bodyPr>
          <a:lstStyle/>
          <a:p>
            <a:r>
              <a:rPr lang="en-GH" b="1" dirty="0">
                <a:effectLst/>
                <a:latin typeface="inherit"/>
                <a:ea typeface="Times New Roman" panose="02020603050405020304" pitchFamily="18" charset="0"/>
                <a:cs typeface="Times New Roman" panose="02020603050405020304" pitchFamily="18" charset="0"/>
              </a:rPr>
              <a:t>Applications of NLP</a:t>
            </a:r>
            <a:endParaRPr lang="en-GH" dirty="0"/>
          </a:p>
        </p:txBody>
      </p:sp>
    </p:spTree>
    <p:extLst>
      <p:ext uri="{BB962C8B-B14F-4D97-AF65-F5344CB8AC3E}">
        <p14:creationId xmlns:p14="http://schemas.microsoft.com/office/powerpoint/2010/main" val="1952266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14D752-A22F-C4F8-93A6-CB1D05EAAFA3}"/>
              </a:ext>
            </a:extLst>
          </p:cNvPr>
          <p:cNvSpPr txBox="1"/>
          <p:nvPr/>
        </p:nvSpPr>
        <p:spPr>
          <a:xfrm>
            <a:off x="461914" y="1904214"/>
            <a:ext cx="11481847" cy="2835713"/>
          </a:xfrm>
          <a:prstGeom prst="rect">
            <a:avLst/>
          </a:prstGeom>
          <a:noFill/>
        </p:spPr>
        <p:txBody>
          <a:bodyPr wrap="square" rtlCol="0">
            <a:spAutoFit/>
          </a:bodyPr>
          <a:lstStyle/>
          <a:p>
            <a:pPr>
              <a:lnSpc>
                <a:spcPct val="107000"/>
              </a:lnSpc>
              <a:spcAft>
                <a:spcPts val="1320"/>
              </a:spcAft>
            </a:pPr>
            <a:r>
              <a:rPr lang="en-GH" sz="2800">
                <a:effectLst/>
                <a:latin typeface="Times New Roman" panose="02020603050405020304" pitchFamily="18" charset="0"/>
                <a:ea typeface="Times New Roman" panose="02020603050405020304" pitchFamily="18" charset="0"/>
                <a:cs typeface="Times New Roman" panose="02020603050405020304" pitchFamily="18" charset="0"/>
              </a:rPr>
              <a:t>Because NLP is a subfield of artificial intelligence and computational linguistics that focuses on allowing computers to understand and interpret human language, it has a wide range of applications. Any use case that could benefit from machines able to read, interpret, and derive meaning from textual data, mimicking how humans communicate, is fair game. Consider these specific options:</a:t>
            </a:r>
            <a:endParaRPr lang="en-GH" sz="2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91037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3FAE1-4ED4-7DD6-2E78-97DCCD059E5A}"/>
              </a:ext>
            </a:extLst>
          </p:cNvPr>
          <p:cNvSpPr>
            <a:spLocks noGrp="1"/>
          </p:cNvSpPr>
          <p:nvPr>
            <p:ph idx="1"/>
          </p:nvPr>
        </p:nvSpPr>
        <p:spPr>
          <a:xfrm>
            <a:off x="838200" y="1853906"/>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Automate tasks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Chatbots and AI agents that use NLP can process ever-more-complex tasks within an area of responsibility, such as invoicing, data analysis, or cybersecurity. The result is a new kind of efficiency. For example, an </a:t>
            </a:r>
            <a:r>
              <a:rPr lang="en-GH"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AI agent in an enterprise application</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could automatically extract relevant information from a vendor’s price quote, say a scanned PDF, then translate it if needed and create a purchase request within the system. This helps automate the procurement process and could also assist in automatically flagging the vendor’s final invoice for review by a manager, should the numbers differ.</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1179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42A63-D715-52D3-E242-F326B12E09A9}"/>
              </a:ext>
            </a:extLst>
          </p:cNvPr>
          <p:cNvSpPr>
            <a:spLocks noGrp="1"/>
          </p:cNvSpPr>
          <p:nvPr>
            <p:ph idx="1"/>
          </p:nvPr>
        </p:nvSpPr>
        <p:spPr>
          <a:xfrm>
            <a:off x="838200" y="1253331"/>
            <a:ext cx="10515600" cy="4351338"/>
          </a:xfrm>
        </p:spPr>
        <p:txBody>
          <a:bodyPr>
            <a:no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Improve search</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Traditional NLP provides many techniques for improving keyword matching search and retrieval by recognizing words based on context. For example, “carrier” means something different in biomedical and logistics contexts. More recent architectures that leverage </a:t>
            </a:r>
            <a:r>
              <a:rPr lang="en-GH" u="none"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vector databases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vastly improve NLP’s ability to understand the semantic meaning in human language. The vector embedding process assigns numerical representations to words, phrases, and entire documents, allowing tasks such as semantic search, sentiment analysis, and document similarity analysis to be performed quickly and with high accuracy. NLP-driven semantic searches are a key part of common services, such as the recommendation systems found on retail sites or entertainment streaming services.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289959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FF96F-8326-ACA3-3A69-BD57BB1CBE2F}"/>
              </a:ext>
            </a:extLst>
          </p:cNvPr>
          <p:cNvSpPr>
            <a:spLocks noGrp="1"/>
          </p:cNvSpPr>
          <p:nvPr>
            <p:ph idx="1"/>
          </p:nvPr>
        </p:nvSpPr>
        <p:spPr>
          <a:xfrm>
            <a:off x="734505" y="1253331"/>
            <a:ext cx="10515600" cy="4351338"/>
          </a:xfrm>
        </p:spPr>
        <p:txBody>
          <a:bodyPr>
            <a:normAutofit/>
          </a:bodyPr>
          <a:lstStyle/>
          <a:p>
            <a:r>
              <a:rPr lang="en-GH" b="1"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 and organize large document collections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NLP techniques such as document clustering and topic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simplify the task of understanding the diversity of content in large document collections, such as corporate reports, news articles, and scientific documents. More recently, a growing number of </a:t>
            </a:r>
            <a:r>
              <a:rPr lang="en-GH" u="none"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embedding models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have driven a new level of human language interaction with data and documents. Working within a </a:t>
            </a:r>
            <a:r>
              <a:rPr lang="en-GH" u="none"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retrieval-augmented generation (RAG) architecture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NLP-equipped applications can allow for the exploration of information in document stores using human language prompts rather than using SQL or other coding languages.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3223789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64BD4F-B8F6-66B6-AB51-1451521D9562}"/>
              </a:ext>
            </a:extLst>
          </p:cNvPr>
          <p:cNvSpPr>
            <a:spLocks noGrp="1"/>
          </p:cNvSpPr>
          <p:nvPr>
            <p:ph idx="1"/>
          </p:nvPr>
        </p:nvSpPr>
        <p:spPr>
          <a:xfrm>
            <a:off x="838200" y="1797345"/>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Provide social media analytics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NLP can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customer reviews and social media comments to make better sense of huge volumes of information. Sentiment analysis identifies positive and negative comments in a stream of social media comments, providing a direct measure of customer sentiment in real time. Down the line, this can lead to huge payoffs, such as increased customer satisfaction and repeat business.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229007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3FC371-9C3E-9732-2320-ABDCF9C18D97}"/>
              </a:ext>
            </a:extLst>
          </p:cNvPr>
          <p:cNvSpPr>
            <a:spLocks noGrp="1"/>
          </p:cNvSpPr>
          <p:nvPr>
            <p:ph idx="1"/>
          </p:nvPr>
        </p:nvSpPr>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Provide market insights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NLP can help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the language of a business’s customers, giving it a better handle on what they want and a better idea of how to communicate with them. For example, sentiment analysis can detect the specific aspects or products mentioned in social media (for example, “the keyboard is great, but the screen is too dim”), providing directly actionable information for product design and marketing.</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682573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521D07-2660-098A-2EF1-F4D8CD61DBA3}"/>
              </a:ext>
            </a:extLst>
          </p:cNvPr>
          <p:cNvSpPr>
            <a:spLocks noGrp="1"/>
          </p:cNvSpPr>
          <p:nvPr>
            <p:ph idx="1"/>
          </p:nvPr>
        </p:nvSpPr>
        <p:spPr>
          <a:xfrm>
            <a:off x="838200" y="2325245"/>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Moderate content</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If your business has active social channels, NLP can help moderators track and react to what’s being said, giving them the opportunity to maintain quality and civility by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analyzing</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not only the words, but also the tone and intent of comments. This can act as a backstop to common customer rating and flagging systems.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3396166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D03E-29E1-AF25-0DD8-A0703199F233}"/>
              </a:ext>
            </a:extLst>
          </p:cNvPr>
          <p:cNvSpPr>
            <a:spLocks noGrp="1"/>
          </p:cNvSpPr>
          <p:nvPr>
            <p:ph type="ctrTitle"/>
          </p:nvPr>
        </p:nvSpPr>
        <p:spPr>
          <a:xfrm>
            <a:off x="2551521" y="2073897"/>
            <a:ext cx="6422796" cy="1555423"/>
          </a:xfrm>
        </p:spPr>
        <p:txBody>
          <a:bodyPr>
            <a:noAutofit/>
          </a:bodyPr>
          <a:lstStyle/>
          <a:p>
            <a:r>
              <a:rPr lang="en-GH" sz="4400" b="1" dirty="0">
                <a:effectLst/>
                <a:latin typeface="inherit"/>
                <a:ea typeface="Times New Roman" panose="02020603050405020304" pitchFamily="18" charset="0"/>
                <a:cs typeface="Times New Roman" panose="02020603050405020304" pitchFamily="18" charset="0"/>
              </a:rPr>
              <a:t>How NLP Works</a:t>
            </a:r>
            <a:endParaRPr lang="en-GH" sz="4400" dirty="0"/>
          </a:p>
        </p:txBody>
      </p:sp>
    </p:spTree>
    <p:extLst>
      <p:ext uri="{BB962C8B-B14F-4D97-AF65-F5344CB8AC3E}">
        <p14:creationId xmlns:p14="http://schemas.microsoft.com/office/powerpoint/2010/main" val="4240805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D66F79-4BC6-3A70-12FA-6B3F8E032E21}"/>
              </a:ext>
            </a:extLst>
          </p:cNvPr>
          <p:cNvSpPr>
            <a:spLocks noGrp="1"/>
          </p:cNvSpPr>
          <p:nvPr>
            <p:ph idx="1"/>
          </p:nvPr>
        </p:nvSpPr>
        <p:spPr>
          <a:xfrm>
            <a:off x="640237" y="666128"/>
            <a:ext cx="10515600" cy="4351338"/>
          </a:xfrm>
        </p:spPr>
        <p:txBody>
          <a:bodyPr>
            <a:noAutofit/>
          </a:bodyPr>
          <a:lstStyle/>
          <a:p>
            <a:pPr marL="0" indent="0">
              <a:lnSpc>
                <a:spcPct val="107000"/>
              </a:lnSpc>
              <a:spcAft>
                <a:spcPts val="1320"/>
              </a:spcAft>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NLP models most commonly use neural networks to learn patterns and representations from text training data.</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1320"/>
              </a:spcAft>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NLP models can be trained on large data sets to perform tasks like sentiment analysis, named entity recognition, machine translation, and text summarization. Within NLP, large language models learn to make predictions or generate text based on the patterns and features extracted from the input data.</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1320"/>
              </a:spcAft>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The goal of NLP is to bridge the gap between human communication and computer understanding, enabling machines to perform tasks that require natural language comprehension. Here are some specific areas to consider.</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137784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BDFE70-E984-2793-05EE-DD8C395E7455}"/>
              </a:ext>
            </a:extLst>
          </p:cNvPr>
          <p:cNvSpPr>
            <a:spLocks noGrp="1"/>
          </p:cNvSpPr>
          <p:nvPr>
            <p:ph idx="1"/>
          </p:nvPr>
        </p:nvSpPr>
        <p:spPr>
          <a:xfrm>
            <a:off x="838200" y="1344858"/>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Computational Linguistics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Computational linguistics is a field of study that uses a combination of computer science, artificial intelligence, and linguistics to develop AI models that can process various parts of human language. The result is computational methods for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analyzing</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and manipulating text and spoken language. Computational linguistics involves the study of syntax and grammar parsing, semantic analysis, and discourse analysis. The application of this study results in the NLP capabilities we see at work in machine translation, speech recognition, sentiment analysis, and language generation.</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2384998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32A0FF-A8F8-CBA9-A319-75A3F7D15A1D}"/>
              </a:ext>
            </a:extLst>
          </p:cNvPr>
          <p:cNvSpPr>
            <a:spLocks noGrp="1"/>
          </p:cNvSpPr>
          <p:nvPr>
            <p:ph idx="1"/>
          </p:nvPr>
        </p:nvSpPr>
        <p:spPr>
          <a:xfrm>
            <a:off x="1102151" y="2061295"/>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rPr>
              <a:t>Machine Learning in NLP</a:t>
            </a:r>
            <a:r>
              <a:rPr lang="en-GH" dirty="0">
                <a:effectLst/>
                <a:latin typeface="Times New Roman" panose="02020603050405020304" pitchFamily="18" charset="0"/>
                <a:ea typeface="Times New Roman" panose="02020603050405020304" pitchFamily="18" charset="0"/>
              </a:rPr>
              <a:t>: Because AI models learn to do various language-based tasks by </a:t>
            </a:r>
            <a:r>
              <a:rPr lang="en-GH" dirty="0" err="1">
                <a:effectLst/>
                <a:latin typeface="Times New Roman" panose="02020603050405020304" pitchFamily="18" charset="0"/>
                <a:ea typeface="Times New Roman" panose="02020603050405020304" pitchFamily="18" charset="0"/>
              </a:rPr>
              <a:t>analyzing</a:t>
            </a:r>
            <a:r>
              <a:rPr lang="en-GH" dirty="0">
                <a:effectLst/>
                <a:latin typeface="Times New Roman" panose="02020603050405020304" pitchFamily="18" charset="0"/>
                <a:ea typeface="Times New Roman" panose="02020603050405020304" pitchFamily="18" charset="0"/>
              </a:rPr>
              <a:t> the large training data sets that provide the basis for understanding language, modern NLP requires </a:t>
            </a:r>
            <a:r>
              <a:rPr lang="en-GH" u="none" strike="noStrike" dirty="0">
                <a:solidFill>
                  <a:srgbClr val="006B8F"/>
                </a:solidFill>
                <a:effectLst/>
                <a:latin typeface="Times New Roman" panose="02020603050405020304" pitchFamily="18" charset="0"/>
                <a:ea typeface="Times New Roman" panose="02020603050405020304" pitchFamily="18" charset="0"/>
                <a:hlinkClick r:id="rId2"/>
              </a:rPr>
              <a:t>machine learning</a:t>
            </a:r>
            <a:r>
              <a:rPr lang="en-GH" dirty="0">
                <a:effectLst/>
                <a:latin typeface="Times New Roman" panose="02020603050405020304" pitchFamily="18" charset="0"/>
                <a:ea typeface="Times New Roman" panose="02020603050405020304" pitchFamily="18" charset="0"/>
              </a:rPr>
              <a:t>, or ML. The result in NLP is a machine learning model that accomplishes a target task, such as sentiment analysis, entity recognition, or language generation.</a:t>
            </a:r>
            <a:endParaRPr lang="en-GH" dirty="0"/>
          </a:p>
        </p:txBody>
      </p:sp>
    </p:spTree>
    <p:extLst>
      <p:ext uri="{BB962C8B-B14F-4D97-AF65-F5344CB8AC3E}">
        <p14:creationId xmlns:p14="http://schemas.microsoft.com/office/powerpoint/2010/main" val="3963603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84F946-EB41-FF00-D2AE-E8D471397BFF}"/>
              </a:ext>
            </a:extLst>
          </p:cNvPr>
          <p:cNvSpPr>
            <a:spLocks noGrp="1"/>
          </p:cNvSpPr>
          <p:nvPr>
            <p:ph idx="1"/>
          </p:nvPr>
        </p:nvSpPr>
        <p:spPr>
          <a:xfrm>
            <a:off x="838200" y="1429699"/>
            <a:ext cx="10515600" cy="4351338"/>
          </a:xfrm>
        </p:spPr>
        <p:txBody>
          <a:bodyPr>
            <a:normAutofit/>
          </a:bodyPr>
          <a:lstStyle/>
          <a:p>
            <a:pPr marL="0" indent="0">
              <a:buNone/>
            </a:pPr>
            <a:r>
              <a:rPr lang="en-GH" dirty="0">
                <a:effectLst/>
                <a:latin typeface="Times New Roman" panose="02020603050405020304" pitchFamily="18" charset="0"/>
                <a:ea typeface="Times New Roman" panose="02020603050405020304" pitchFamily="18" charset="0"/>
              </a:rPr>
              <a:t>For example, sentiment analysis training data consists of sentences </a:t>
            </a:r>
            <a:r>
              <a:rPr lang="en-GH" dirty="0" err="1">
                <a:effectLst/>
                <a:latin typeface="Times New Roman" panose="02020603050405020304" pitchFamily="18" charset="0"/>
                <a:ea typeface="Times New Roman" panose="02020603050405020304" pitchFamily="18" charset="0"/>
              </a:rPr>
              <a:t>labeled</a:t>
            </a:r>
            <a:r>
              <a:rPr lang="en-GH" dirty="0">
                <a:effectLst/>
                <a:latin typeface="Times New Roman" panose="02020603050405020304" pitchFamily="18" charset="0"/>
                <a:ea typeface="Times New Roman" panose="02020603050405020304" pitchFamily="18" charset="0"/>
              </a:rPr>
              <a:t> with their sentiment—for example, positive, negative, or neutral. A machine learning algorithm reads this data set and produces a model that takes sentences as input and returns their sentiments. The resulting document classification model can quickly tell if a document takes a positive, neutral, or negative view of the subject and whether it discusses, for example, sports, finance, or politics. Similarly, a machine learning model might be trained to recognize and classify entities within a document, such as names, places, and dates.</a:t>
            </a:r>
            <a:endParaRPr lang="en-GH" dirty="0"/>
          </a:p>
        </p:txBody>
      </p:sp>
    </p:spTree>
    <p:extLst>
      <p:ext uri="{BB962C8B-B14F-4D97-AF65-F5344CB8AC3E}">
        <p14:creationId xmlns:p14="http://schemas.microsoft.com/office/powerpoint/2010/main" val="3379087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2431-79DB-903F-B9AE-D4A06FB8A911}"/>
              </a:ext>
            </a:extLst>
          </p:cNvPr>
          <p:cNvSpPr>
            <a:spLocks noGrp="1"/>
          </p:cNvSpPr>
          <p:nvPr>
            <p:ph idx="1"/>
          </p:nvPr>
        </p:nvSpPr>
        <p:spPr>
          <a:xfrm>
            <a:off x="838200" y="2080149"/>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Deep Learning</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in NLP</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H" u="none"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Deep learning</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is machine learning using deep neural network models. A deep neural network has multiple layers of interconnected nodes, or neurons, that allow the model to learn very complex patterns from its training data. Deep learning combined with large training data sets can improve performance on NLP tasks, such as machine translation, sentiment analysis, and speech recognition.</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8636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68CE30-B30F-464E-0345-EA99137D0C82}"/>
              </a:ext>
            </a:extLst>
          </p:cNvPr>
          <p:cNvSpPr>
            <a:spLocks noGrp="1"/>
          </p:cNvSpPr>
          <p:nvPr>
            <p:ph idx="1"/>
          </p:nvPr>
        </p:nvSpPr>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Transfer Learning</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Transfer learning, often referred to as AI model fine-tuning, involves taking a sophisticated foundation LLM and adapting it to a specific task using a smaller, task-specific data set. These foundation LLMs come with a strong grasp of language and a vast general knowledge that can be tuned to adjust to the nuances of a new task. In NLP, an organization can use transfer learning to help an AI model improve its accuracy in a local dialect, say, or to work within an industry with its own parlance, such as medical science.</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2915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4B9F8-5997-B601-F9D7-595A10ED5627}"/>
              </a:ext>
            </a:extLst>
          </p:cNvPr>
          <p:cNvSpPr>
            <a:spLocks noGrp="1"/>
          </p:cNvSpPr>
          <p:nvPr>
            <p:ph type="title"/>
          </p:nvPr>
        </p:nvSpPr>
        <p:spPr>
          <a:xfrm>
            <a:off x="838200" y="2766218"/>
            <a:ext cx="10515600" cy="1325563"/>
          </a:xfrm>
        </p:spPr>
        <p:txBody>
          <a:bodyPr>
            <a:normAutofit/>
          </a:bodyPr>
          <a:lstStyle/>
          <a:p>
            <a:pPr algn="ctr"/>
            <a:r>
              <a:rPr lang="en-GH" b="1" dirty="0">
                <a:effectLst/>
                <a:latin typeface="inherit"/>
                <a:ea typeface="Times New Roman" panose="02020603050405020304" pitchFamily="18" charset="0"/>
                <a:cs typeface="Times New Roman" panose="02020603050405020304" pitchFamily="18" charset="0"/>
              </a:rPr>
              <a:t>NLP Implementation Steps</a:t>
            </a:r>
            <a:endParaRPr lang="en-GH" dirty="0"/>
          </a:p>
        </p:txBody>
      </p:sp>
    </p:spTree>
    <p:extLst>
      <p:ext uri="{BB962C8B-B14F-4D97-AF65-F5344CB8AC3E}">
        <p14:creationId xmlns:p14="http://schemas.microsoft.com/office/powerpoint/2010/main" val="1947199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E0ED9-205F-1DDE-161F-3E5116ED0905}"/>
              </a:ext>
            </a:extLst>
          </p:cNvPr>
          <p:cNvSpPr>
            <a:spLocks noGrp="1"/>
          </p:cNvSpPr>
          <p:nvPr>
            <p:ph idx="1"/>
          </p:nvPr>
        </p:nvSpPr>
        <p:spPr/>
        <p:txBody>
          <a:bodyPr>
            <a:normAutofit/>
          </a:bodyPr>
          <a:lstStyle/>
          <a:p>
            <a:pPr marL="0" indent="0">
              <a:buNone/>
            </a:pPr>
            <a:r>
              <a:rPr lang="en-GH" b="1" dirty="0">
                <a:effectLst/>
                <a:latin typeface="Times New Roman" panose="02020603050405020304" pitchFamily="18" charset="0"/>
                <a:ea typeface="Times New Roman" panose="02020603050405020304" pitchFamily="18" charset="0"/>
              </a:rPr>
              <a:t>1. Collect and prepare text data</a:t>
            </a:r>
            <a:r>
              <a:rPr lang="en-GH" dirty="0">
                <a:effectLst/>
                <a:latin typeface="Times New Roman" panose="02020603050405020304" pitchFamily="18" charset="0"/>
                <a:ea typeface="Times New Roman" panose="02020603050405020304" pitchFamily="18" charset="0"/>
              </a:rPr>
              <a:t>: Gather text data from various sources, such as social media, documents, or web content, and then </a:t>
            </a:r>
            <a:r>
              <a:rPr lang="en-GH" dirty="0" err="1">
                <a:effectLst/>
                <a:latin typeface="Times New Roman" panose="02020603050405020304" pitchFamily="18" charset="0"/>
                <a:ea typeface="Times New Roman" panose="02020603050405020304" pitchFamily="18" charset="0"/>
              </a:rPr>
              <a:t>preprocess</a:t>
            </a:r>
            <a:r>
              <a:rPr lang="en-GH" dirty="0">
                <a:effectLst/>
                <a:latin typeface="Times New Roman" panose="02020603050405020304" pitchFamily="18" charset="0"/>
                <a:ea typeface="Times New Roman" panose="02020603050405020304" pitchFamily="18" charset="0"/>
              </a:rPr>
              <a:t> it into a format suitable for analysis by machines.</a:t>
            </a:r>
            <a:br>
              <a:rPr lang="en-GH" dirty="0">
                <a:effectLst/>
                <a:latin typeface="Times New Roman" panose="02020603050405020304" pitchFamily="18" charset="0"/>
                <a:ea typeface="Times New Roman" panose="02020603050405020304" pitchFamily="18" charset="0"/>
              </a:rPr>
            </a:br>
            <a:br>
              <a:rPr lang="en-GH" dirty="0">
                <a:effectLst/>
                <a:latin typeface="Times New Roman" panose="02020603050405020304" pitchFamily="18" charset="0"/>
                <a:ea typeface="Times New Roman" panose="02020603050405020304" pitchFamily="18" charset="0"/>
              </a:rPr>
            </a:br>
            <a:r>
              <a:rPr lang="en-GH" b="1" dirty="0">
                <a:effectLst/>
                <a:latin typeface="Times New Roman" panose="02020603050405020304" pitchFamily="18" charset="0"/>
                <a:ea typeface="Times New Roman" panose="02020603050405020304" pitchFamily="18" charset="0"/>
              </a:rPr>
              <a:t>2. Extract features and representation</a:t>
            </a:r>
            <a:r>
              <a:rPr lang="en-GH" dirty="0">
                <a:effectLst/>
                <a:latin typeface="Times New Roman" panose="02020603050405020304" pitchFamily="18" charset="0"/>
                <a:ea typeface="Times New Roman" panose="02020603050405020304" pitchFamily="18" charset="0"/>
              </a:rPr>
              <a:t>: Convert the </a:t>
            </a:r>
            <a:r>
              <a:rPr lang="en-GH" dirty="0" err="1">
                <a:effectLst/>
                <a:latin typeface="Times New Roman" panose="02020603050405020304" pitchFamily="18" charset="0"/>
                <a:ea typeface="Times New Roman" panose="02020603050405020304" pitchFamily="18" charset="0"/>
              </a:rPr>
              <a:t>preprocessed</a:t>
            </a:r>
            <a:r>
              <a:rPr lang="en-GH" dirty="0">
                <a:effectLst/>
                <a:latin typeface="Times New Roman" panose="02020603050405020304" pitchFamily="18" charset="0"/>
                <a:ea typeface="Times New Roman" panose="02020603050405020304" pitchFamily="18" charset="0"/>
              </a:rPr>
              <a:t> text into a numerical format that machine learning models can understand. The most advanced techniques involve converting word and text segments into vector embeddings.</a:t>
            </a:r>
            <a:br>
              <a:rPr lang="en-GH" dirty="0">
                <a:effectLst/>
                <a:latin typeface="Times New Roman" panose="02020603050405020304" pitchFamily="18" charset="0"/>
                <a:ea typeface="Times New Roman" panose="02020603050405020304" pitchFamily="18" charset="0"/>
              </a:rPr>
            </a:br>
            <a:endParaRPr lang="en-GH" dirty="0"/>
          </a:p>
        </p:txBody>
      </p:sp>
    </p:spTree>
    <p:extLst>
      <p:ext uri="{BB962C8B-B14F-4D97-AF65-F5344CB8AC3E}">
        <p14:creationId xmlns:p14="http://schemas.microsoft.com/office/powerpoint/2010/main" val="1844559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B7B31-ABD7-3E5D-D03B-DC1B09AE6039}"/>
              </a:ext>
            </a:extLst>
          </p:cNvPr>
          <p:cNvSpPr>
            <a:spLocks noGrp="1"/>
          </p:cNvSpPr>
          <p:nvPr>
            <p:ph idx="1"/>
          </p:nvPr>
        </p:nvSpPr>
        <p:spPr>
          <a:xfrm>
            <a:off x="838200" y="1674796"/>
            <a:ext cx="10515600" cy="4351338"/>
          </a:xfrm>
        </p:spPr>
        <p:txBody>
          <a:bodyPr>
            <a:normAutofit/>
          </a:bodyPr>
          <a:lstStyle/>
          <a:p>
            <a:pPr marL="0" indent="0">
              <a:buNone/>
            </a:pPr>
            <a:r>
              <a:rPr lang="en-GH" b="1" dirty="0">
                <a:effectLst/>
                <a:latin typeface="Times New Roman" panose="02020603050405020304" pitchFamily="18" charset="0"/>
                <a:ea typeface="Times New Roman" panose="02020603050405020304" pitchFamily="18" charset="0"/>
              </a:rPr>
              <a:t>3. Select and train a model</a:t>
            </a:r>
            <a:r>
              <a:rPr lang="en-GH" dirty="0">
                <a:effectLst/>
                <a:latin typeface="Times New Roman" panose="02020603050405020304" pitchFamily="18" charset="0"/>
                <a:ea typeface="Times New Roman" panose="02020603050405020304" pitchFamily="18" charset="0"/>
              </a:rPr>
              <a:t>: Choose an appropriate NLP model based on the task you want to perform, such as sentiment analysis or text classification, and then train it on your prepared data set, tweaking hyperparameters to optimize performance and accuracy.</a:t>
            </a:r>
            <a:br>
              <a:rPr lang="en-GH" dirty="0">
                <a:effectLst/>
                <a:latin typeface="Times New Roman" panose="02020603050405020304" pitchFamily="18" charset="0"/>
                <a:ea typeface="Times New Roman" panose="02020603050405020304" pitchFamily="18" charset="0"/>
              </a:rPr>
            </a:br>
            <a:br>
              <a:rPr lang="en-GH" dirty="0">
                <a:effectLst/>
                <a:latin typeface="Times New Roman" panose="02020603050405020304" pitchFamily="18" charset="0"/>
                <a:ea typeface="Times New Roman" panose="02020603050405020304" pitchFamily="18" charset="0"/>
              </a:rPr>
            </a:br>
            <a:r>
              <a:rPr lang="en-GH" b="1" dirty="0">
                <a:effectLst/>
                <a:latin typeface="Times New Roman" panose="02020603050405020304" pitchFamily="18" charset="0"/>
                <a:ea typeface="Times New Roman" panose="02020603050405020304" pitchFamily="18" charset="0"/>
              </a:rPr>
              <a:t>4. Evaluate and deploy your model</a:t>
            </a:r>
            <a:r>
              <a:rPr lang="en-GH" dirty="0">
                <a:effectLst/>
                <a:latin typeface="Times New Roman" panose="02020603050405020304" pitchFamily="18" charset="0"/>
                <a:ea typeface="Times New Roman" panose="02020603050405020304" pitchFamily="18" charset="0"/>
              </a:rPr>
              <a:t>: Evaluate the NLP model for accuracy, precision, and recall and if it can generalize well when given new data. Once satisfied, deploy the model in a production environment to process and </a:t>
            </a:r>
            <a:r>
              <a:rPr lang="en-GH" dirty="0" err="1">
                <a:effectLst/>
                <a:latin typeface="Times New Roman" panose="02020603050405020304" pitchFamily="18" charset="0"/>
                <a:ea typeface="Times New Roman" panose="02020603050405020304" pitchFamily="18" charset="0"/>
              </a:rPr>
              <a:t>analyze</a:t>
            </a:r>
            <a:r>
              <a:rPr lang="en-GH" dirty="0">
                <a:effectLst/>
                <a:latin typeface="Times New Roman" panose="02020603050405020304" pitchFamily="18" charset="0"/>
                <a:ea typeface="Times New Roman" panose="02020603050405020304" pitchFamily="18" charset="0"/>
              </a:rPr>
              <a:t> text data in real-world settings.</a:t>
            </a:r>
            <a:endParaRPr lang="en-GH" dirty="0"/>
          </a:p>
        </p:txBody>
      </p:sp>
    </p:spTree>
    <p:extLst>
      <p:ext uri="{BB962C8B-B14F-4D97-AF65-F5344CB8AC3E}">
        <p14:creationId xmlns:p14="http://schemas.microsoft.com/office/powerpoint/2010/main" val="35155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98948E-E8D1-B5E6-72B6-D81541C19F7A}"/>
              </a:ext>
            </a:extLst>
          </p:cNvPr>
          <p:cNvSpPr>
            <a:spLocks noGrp="1"/>
          </p:cNvSpPr>
          <p:nvPr>
            <p:ph idx="1"/>
          </p:nvPr>
        </p:nvSpPr>
        <p:spPr>
          <a:xfrm>
            <a:off x="838200" y="769823"/>
            <a:ext cx="10515600" cy="4351338"/>
          </a:xfrm>
        </p:spPr>
        <p:txBody>
          <a:bodyPr>
            <a:noAutofit/>
          </a:bodyPr>
          <a:lstStyle/>
          <a:p>
            <a:pPr marL="0" indent="0">
              <a:lnSpc>
                <a:spcPct val="107000"/>
              </a:lnSpc>
              <a:spcAft>
                <a:spcPts val="1320"/>
              </a:spcAft>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NLP uses AI to facilitate spoken interactions between machines and people. It involves a range of techniques and tasks to accomplish this.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r>
              <a:rPr lang="en-GH" b="1" dirty="0" err="1">
                <a:effectLst/>
                <a:latin typeface="Times New Roman" panose="02020603050405020304" pitchFamily="18" charset="0"/>
                <a:ea typeface="Times New Roman" panose="02020603050405020304" pitchFamily="18" charset="0"/>
              </a:rPr>
              <a:t>Preprocessing</a:t>
            </a:r>
            <a:r>
              <a:rPr lang="en-GH" b="1" dirty="0">
                <a:effectLst/>
                <a:latin typeface="Times New Roman" panose="02020603050405020304" pitchFamily="18" charset="0"/>
                <a:ea typeface="Times New Roman" panose="02020603050405020304" pitchFamily="18" charset="0"/>
              </a:rPr>
              <a:t> Techniques</a:t>
            </a:r>
            <a:r>
              <a:rPr lang="en-GH" dirty="0">
                <a:effectLst/>
                <a:latin typeface="Times New Roman" panose="02020603050405020304" pitchFamily="18" charset="0"/>
                <a:ea typeface="Times New Roman" panose="02020603050405020304" pitchFamily="18" charset="0"/>
              </a:rPr>
              <a:t>: In NLP, cleaning and preparing text data for analysis has traditionally been essential. These techniques include tokenization, which splits raw text—for example, a sentence or a document—into a sequence of tokens, such as words or </a:t>
            </a:r>
            <a:r>
              <a:rPr lang="en-GH" dirty="0" err="1">
                <a:effectLst/>
                <a:latin typeface="Times New Roman" panose="02020603050405020304" pitchFamily="18" charset="0"/>
                <a:ea typeface="Times New Roman" panose="02020603050405020304" pitchFamily="18" charset="0"/>
              </a:rPr>
              <a:t>subword</a:t>
            </a:r>
            <a:r>
              <a:rPr lang="en-GH" dirty="0">
                <a:effectLst/>
                <a:latin typeface="Times New Roman" panose="02020603050405020304" pitchFamily="18" charset="0"/>
                <a:ea typeface="Times New Roman" panose="02020603050405020304" pitchFamily="18" charset="0"/>
              </a:rPr>
              <a:t> pieces. Tokenization is often the first step in an NLP processing pipeline. Stemming and lemmatization then reduce words to their base or root form. For example, “revisited” consists of the prefix “re-,” the stem “visit,” and the past-tense suffix “-ed.” And stop word removal helps improve performance and save on processing by eliminating common words that don’t carry much meaning, typically short, frequent words such as “a,” “the,” and “an.”</a:t>
            </a:r>
            <a:endParaRPr lang="en-GH" dirty="0"/>
          </a:p>
        </p:txBody>
      </p:sp>
    </p:spTree>
    <p:extLst>
      <p:ext uri="{BB962C8B-B14F-4D97-AF65-F5344CB8AC3E}">
        <p14:creationId xmlns:p14="http://schemas.microsoft.com/office/powerpoint/2010/main" val="3765983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6C076-B267-05B5-DBAB-F4E48CF76490}"/>
              </a:ext>
            </a:extLst>
          </p:cNvPr>
          <p:cNvSpPr>
            <a:spLocks noGrp="1"/>
          </p:cNvSpPr>
          <p:nvPr>
            <p:ph type="title"/>
          </p:nvPr>
        </p:nvSpPr>
        <p:spPr>
          <a:xfrm>
            <a:off x="753359" y="2929216"/>
            <a:ext cx="10515600" cy="1325563"/>
          </a:xfrm>
        </p:spPr>
        <p:txBody>
          <a:bodyPr>
            <a:normAutofit/>
          </a:bodyPr>
          <a:lstStyle/>
          <a:p>
            <a:pPr algn="ctr"/>
            <a:r>
              <a:rPr lang="en-GH" b="1" dirty="0">
                <a:effectLst/>
                <a:latin typeface="inherit"/>
                <a:ea typeface="Times New Roman" panose="02020603050405020304" pitchFamily="18" charset="0"/>
                <a:cs typeface="Times New Roman" panose="02020603050405020304" pitchFamily="18" charset="0"/>
              </a:rPr>
              <a:t>Key NLP Techniques and Tasks</a:t>
            </a:r>
            <a:br>
              <a:rPr lang="en-GH" dirty="0">
                <a:effectLst/>
                <a:latin typeface="Calibri" panose="020F0502020204030204" pitchFamily="34" charset="0"/>
                <a:ea typeface="Calibri" panose="020F0502020204030204" pitchFamily="34" charset="0"/>
                <a:cs typeface="Times New Roman" panose="02020603050405020304" pitchFamily="18" charset="0"/>
              </a:rPr>
            </a:br>
            <a:endParaRPr lang="en-GH" dirty="0"/>
          </a:p>
        </p:txBody>
      </p:sp>
    </p:spTree>
    <p:extLst>
      <p:ext uri="{BB962C8B-B14F-4D97-AF65-F5344CB8AC3E}">
        <p14:creationId xmlns:p14="http://schemas.microsoft.com/office/powerpoint/2010/main" val="2286331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9AB95D-8CAA-D2A0-35C0-EB626035AC37}"/>
              </a:ext>
            </a:extLst>
          </p:cNvPr>
          <p:cNvSpPr>
            <a:spLocks noGrp="1"/>
          </p:cNvSpPr>
          <p:nvPr>
            <p:ph idx="1"/>
          </p:nvPr>
        </p:nvSpPr>
        <p:spPr>
          <a:xfrm>
            <a:off x="838200" y="2353526"/>
            <a:ext cx="10515600" cy="4351338"/>
          </a:xfrm>
        </p:spPr>
        <p:txBody>
          <a:bodyPr>
            <a:normAutofit/>
          </a:bodyPr>
          <a:lstStyle/>
          <a:p>
            <a:pPr marL="0" indent="0">
              <a:buNone/>
            </a:pPr>
            <a:r>
              <a:rPr lang="en-GH" dirty="0">
                <a:effectLst/>
                <a:latin typeface="Times New Roman" panose="02020603050405020304" pitchFamily="18" charset="0"/>
                <a:ea typeface="Times New Roman" panose="02020603050405020304" pitchFamily="18" charset="0"/>
              </a:rPr>
              <a:t>Additional </a:t>
            </a:r>
            <a:r>
              <a:rPr lang="en-GH" dirty="0" err="1">
                <a:effectLst/>
                <a:latin typeface="Times New Roman" panose="02020603050405020304" pitchFamily="18" charset="0"/>
                <a:ea typeface="Times New Roman" panose="02020603050405020304" pitchFamily="18" charset="0"/>
              </a:rPr>
              <a:t>preprocessing</a:t>
            </a:r>
            <a:r>
              <a:rPr lang="en-GH" dirty="0">
                <a:effectLst/>
                <a:latin typeface="Times New Roman" panose="02020603050405020304" pitchFamily="18" charset="0"/>
                <a:ea typeface="Times New Roman" panose="02020603050405020304" pitchFamily="18" charset="0"/>
              </a:rPr>
              <a:t> steps might include removing punctuation, handling special characters, and correcting spelling errors. These techniques help ensure that data is in a consistent and usable format for core NLP tasks.</a:t>
            </a:r>
            <a:endParaRPr lang="en-GH" dirty="0"/>
          </a:p>
        </p:txBody>
      </p:sp>
    </p:spTree>
    <p:extLst>
      <p:ext uri="{BB962C8B-B14F-4D97-AF65-F5344CB8AC3E}">
        <p14:creationId xmlns:p14="http://schemas.microsoft.com/office/powerpoint/2010/main" val="2104115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080041-B237-820A-3288-D3790A449BAD}"/>
              </a:ext>
            </a:extLst>
          </p:cNvPr>
          <p:cNvSpPr>
            <a:spLocks noGrp="1"/>
          </p:cNvSpPr>
          <p:nvPr>
            <p:ph idx="1"/>
          </p:nvPr>
        </p:nvSpPr>
        <p:spPr>
          <a:xfrm>
            <a:off x="518474" y="232495"/>
            <a:ext cx="10835326" cy="4351338"/>
          </a:xfrm>
        </p:spPr>
        <p:txBody>
          <a:bodyPr>
            <a:no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Core NLP Tasks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Core NLP tasks have evolved over time, but they all contribute to understanding the structure and meaning of text and are often used in combination to build the most complex NLP systems.</a:t>
            </a:r>
            <a:br>
              <a:rPr lang="en-GH"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GH"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Core NLP tasks break down human language so computers can recognize, extract, and imitate it. These tasks include part-of-speech (POS) tagging, which identifies the grammatical role of each word in a sentence—for example, noun, verb, or adjective—syntactic parsing to identify how words combine to form phrases, clauses, and entire sentences; named entity recognition, or NER, which identifies and classifies people, organizations, and locations; and sentiment analysis, which determines the emotional tone of a piece of text.</a:t>
            </a:r>
            <a:br>
              <a:rPr lang="en-GH"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GH"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More recently, deep neural networks have become state-of-the-art technology for LLMs, replacing both POS tagging and syntactic parsing with vector embeddings that provide more flexible and accurate manipulation of human language.</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H" dirty="0"/>
          </a:p>
        </p:txBody>
      </p:sp>
    </p:spTree>
    <p:extLst>
      <p:ext uri="{BB962C8B-B14F-4D97-AF65-F5344CB8AC3E}">
        <p14:creationId xmlns:p14="http://schemas.microsoft.com/office/powerpoint/2010/main" val="1134758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C1D3A8-B279-7860-ECE7-979A8175BBBB}"/>
              </a:ext>
            </a:extLst>
          </p:cNvPr>
          <p:cNvSpPr>
            <a:spLocks noGrp="1"/>
          </p:cNvSpPr>
          <p:nvPr>
            <p:ph idx="1"/>
          </p:nvPr>
        </p:nvSpPr>
        <p:spPr>
          <a:xfrm>
            <a:off x="913614" y="2362953"/>
            <a:ext cx="10515600" cy="4351338"/>
          </a:xfrm>
        </p:spPr>
        <p:txBody>
          <a:bodyPr/>
          <a:lstStyle/>
          <a:p>
            <a:pPr marL="0" indent="0">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More recently, deep neural networks have become state-of-the-art technology for LLMs, replacing both POS tagging and syntactic parsing with vector embeddings that provide more flexible and accurate manipulation of human language.</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H" dirty="0"/>
          </a:p>
        </p:txBody>
      </p:sp>
    </p:spTree>
    <p:extLst>
      <p:ext uri="{BB962C8B-B14F-4D97-AF65-F5344CB8AC3E}">
        <p14:creationId xmlns:p14="http://schemas.microsoft.com/office/powerpoint/2010/main" val="3703548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8D455-7E39-5688-3577-9381DFC34F2B}"/>
              </a:ext>
            </a:extLst>
          </p:cNvPr>
          <p:cNvSpPr>
            <a:spLocks noGrp="1"/>
          </p:cNvSpPr>
          <p:nvPr>
            <p:ph type="title"/>
          </p:nvPr>
        </p:nvSpPr>
        <p:spPr/>
        <p:txBody>
          <a:bodyPr/>
          <a:lstStyle/>
          <a:p>
            <a:endParaRPr lang="en-GH"/>
          </a:p>
        </p:txBody>
      </p:sp>
      <p:sp>
        <p:nvSpPr>
          <p:cNvPr id="3" name="Content Placeholder 2">
            <a:extLst>
              <a:ext uri="{FF2B5EF4-FFF2-40B4-BE49-F238E27FC236}">
                <a16:creationId xmlns:a16="http://schemas.microsoft.com/office/drawing/2014/main" id="{328CB642-2D9D-4E6A-FED7-317D71E98305}"/>
              </a:ext>
            </a:extLst>
          </p:cNvPr>
          <p:cNvSpPr>
            <a:spLocks noGrp="1"/>
          </p:cNvSpPr>
          <p:nvPr>
            <p:ph idx="1"/>
          </p:nvPr>
        </p:nvSpPr>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Advanced NLP Tasks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LLMs rely on advanced NLP techniques to enable natural and engaging conversations between humans and machines. These methods can include automated translations from one language to another; text summarization, which provides more concise summaries of longer text passages; and question answering, which involves extracting and often paraphrasing information in a document to answer specific questions about the text. This natural language generation, or NLG, often requires sophisticated models, large data sets, and in many cases a </a:t>
            </a:r>
            <a:r>
              <a:rPr lang="en-GH" u="none"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fine-tuning process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to take on tasks in specific domains, such as medicine or retail.</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0924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5CCB6-C762-EE59-E024-21D41860F079}"/>
              </a:ext>
            </a:extLst>
          </p:cNvPr>
          <p:cNvSpPr>
            <a:spLocks noGrp="1"/>
          </p:cNvSpPr>
          <p:nvPr>
            <p:ph type="title"/>
          </p:nvPr>
        </p:nvSpPr>
        <p:spPr>
          <a:xfrm>
            <a:off x="725078" y="2948069"/>
            <a:ext cx="10515600" cy="1325563"/>
          </a:xfrm>
        </p:spPr>
        <p:txBody>
          <a:bodyPr>
            <a:normAutofit/>
          </a:bodyPr>
          <a:lstStyle/>
          <a:p>
            <a:pPr algn="ctr"/>
            <a:r>
              <a:rPr lang="en-GH" b="1" dirty="0">
                <a:effectLst/>
                <a:latin typeface="inherit"/>
                <a:ea typeface="Times New Roman" panose="02020603050405020304" pitchFamily="18" charset="0"/>
                <a:cs typeface="Times New Roman" panose="02020603050405020304" pitchFamily="18" charset="0"/>
              </a:rPr>
              <a:t>NLP in Various Industries</a:t>
            </a:r>
            <a:br>
              <a:rPr lang="en-GH" dirty="0">
                <a:effectLst/>
                <a:latin typeface="Calibri" panose="020F0502020204030204" pitchFamily="34" charset="0"/>
                <a:ea typeface="Calibri" panose="020F0502020204030204" pitchFamily="34" charset="0"/>
                <a:cs typeface="Times New Roman" panose="02020603050405020304" pitchFamily="18" charset="0"/>
              </a:rPr>
            </a:br>
            <a:endParaRPr lang="en-GH" dirty="0"/>
          </a:p>
        </p:txBody>
      </p:sp>
    </p:spTree>
    <p:extLst>
      <p:ext uri="{BB962C8B-B14F-4D97-AF65-F5344CB8AC3E}">
        <p14:creationId xmlns:p14="http://schemas.microsoft.com/office/powerpoint/2010/main" val="223175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0B763-0586-84D5-96B6-B70571A43567}"/>
              </a:ext>
            </a:extLst>
          </p:cNvPr>
          <p:cNvSpPr>
            <a:spLocks noGrp="1"/>
          </p:cNvSpPr>
          <p:nvPr>
            <p:ph idx="1"/>
          </p:nvPr>
        </p:nvSpPr>
        <p:spPr>
          <a:xfrm>
            <a:off x="838200" y="2240406"/>
            <a:ext cx="10515600" cy="4351338"/>
          </a:xfrm>
        </p:spPr>
        <p:txBody>
          <a:bodyPr>
            <a:normAutofit/>
          </a:bodyPr>
          <a:lstStyle/>
          <a:p>
            <a:pPr marL="0" indent="0">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NLP can simplify and automate a wide range of business processes, especially ones that involve large amounts of unstructured text, such as emails, surveys, and social media conversations. With NLP, businesses can better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their data to help them make the right decisions. Here are just a few examples of practical applications of NLP.</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93372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942DF8-FA1B-7E0F-8FA1-B45CDD8AA3FA}"/>
              </a:ext>
            </a:extLst>
          </p:cNvPr>
          <p:cNvSpPr>
            <a:spLocks noGrp="1"/>
          </p:cNvSpPr>
          <p:nvPr>
            <p:ph idx="1"/>
          </p:nvPr>
        </p:nvSpPr>
        <p:spPr>
          <a:xfrm>
            <a:off x="725078" y="1062054"/>
            <a:ext cx="10515600" cy="4351338"/>
          </a:xfrm>
        </p:spPr>
        <p:txBody>
          <a:bodyPr>
            <a:noAutofit/>
          </a:bodyPr>
          <a:lstStyle/>
          <a:p>
            <a:pPr marL="342900" marR="190500" lvl="0" indent="-342900">
              <a:lnSpc>
                <a:spcPct val="107000"/>
              </a:lnSpc>
              <a:spcAft>
                <a:spcPts val="800"/>
              </a:spcAft>
              <a:buSzPts val="1000"/>
              <a:buFont typeface="Symbol" panose="05050102010706020507" pitchFamily="18" charset="2"/>
              <a:buChar char=""/>
              <a:tabLst>
                <a:tab pos="457200" algn="l"/>
              </a:tabLst>
            </a:pPr>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Healthcare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As healthcare systems across the world move to electronic health records, or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EHRs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they accumulate huge amounts of unstructured data. NLP can </a:t>
            </a:r>
            <a:r>
              <a:rPr lang="en-GH"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and gain new insights into health records while helping practitioners in fast-moving clinical settings add and update records, such as post-visit summaries, in the EHR without typing.</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pPr marL="342900" marR="190500" lvl="0" indent="-342900">
              <a:lnSpc>
                <a:spcPct val="107000"/>
              </a:lnSpc>
              <a:spcAft>
                <a:spcPts val="800"/>
              </a:spcAft>
              <a:buSzPts val="1000"/>
              <a:buFont typeface="Symbol" panose="05050102010706020507" pitchFamily="18" charset="2"/>
              <a:buChar char=""/>
              <a:tabLst>
                <a:tab pos="457200" algn="l"/>
              </a:tabLst>
            </a:pPr>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Finance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In the financial field, traders use NLP technology to automatically mine information from corporate documents and news releases to extract information relevant to their portfolios and trading decisions.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968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1D9651-D216-A096-CC0A-331B3CE49CD8}"/>
              </a:ext>
            </a:extLst>
          </p:cNvPr>
          <p:cNvSpPr>
            <a:spLocks noGrp="1"/>
          </p:cNvSpPr>
          <p:nvPr>
            <p:ph idx="1"/>
          </p:nvPr>
        </p:nvSpPr>
        <p:spPr>
          <a:xfrm>
            <a:off x="838200" y="1401419"/>
            <a:ext cx="10515600" cy="4351338"/>
          </a:xfrm>
        </p:spPr>
        <p:txBody>
          <a:bodyPr>
            <a:normAutofit/>
          </a:bodyPr>
          <a:lstStyle/>
          <a:p>
            <a:pPr marL="342900" marR="190500" lvl="0" indent="-342900">
              <a:lnSpc>
                <a:spcPct val="107000"/>
              </a:lnSpc>
              <a:spcAft>
                <a:spcPts val="800"/>
              </a:spcAft>
              <a:buSzPts val="1000"/>
              <a:buFont typeface="Symbol" panose="05050102010706020507" pitchFamily="18" charset="2"/>
              <a:buChar char=""/>
              <a:tabLst>
                <a:tab pos="457200" algn="l"/>
              </a:tabLst>
            </a:pPr>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Customer service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Many companies use virtual assistants or chatbots to help answer basic customer inquiries and information requests, passing questions to humans only when necessary. More recently, LLMs connected to RAG architectures have become able to handle many of those more complex interactions.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pPr marL="342900" marR="190500" lvl="0" indent="-342900">
              <a:lnSpc>
                <a:spcPct val="107000"/>
              </a:lnSpc>
              <a:spcAft>
                <a:spcPts val="800"/>
              </a:spcAft>
              <a:buSzPts val="1000"/>
              <a:buFont typeface="Symbol" panose="05050102010706020507" pitchFamily="18" charset="2"/>
              <a:buChar char=""/>
              <a:tabLst>
                <a:tab pos="457200" algn="l"/>
              </a:tabLst>
            </a:pPr>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Insurance</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Large insurance companies can use NLP to sift through documents and reports related to claims and very quickly deliver coverage information.</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5513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F1A9-F46F-2CAA-9737-9439ED19841B}"/>
              </a:ext>
            </a:extLst>
          </p:cNvPr>
          <p:cNvSpPr>
            <a:spLocks noGrp="1"/>
          </p:cNvSpPr>
          <p:nvPr>
            <p:ph type="title"/>
          </p:nvPr>
        </p:nvSpPr>
        <p:spPr>
          <a:xfrm>
            <a:off x="772212" y="2766218"/>
            <a:ext cx="10515600" cy="1325563"/>
          </a:xfrm>
        </p:spPr>
        <p:txBody>
          <a:bodyPr>
            <a:normAutofit/>
          </a:bodyPr>
          <a:lstStyle/>
          <a:p>
            <a:pPr algn="ctr"/>
            <a:r>
              <a:rPr lang="en-GH" b="1" dirty="0">
                <a:effectLst/>
                <a:latin typeface="inherit"/>
                <a:ea typeface="Times New Roman" panose="02020603050405020304" pitchFamily="18" charset="0"/>
                <a:cs typeface="Times New Roman" panose="02020603050405020304" pitchFamily="18" charset="0"/>
              </a:rPr>
              <a:t>Challenges and Future of NLP</a:t>
            </a:r>
            <a:br>
              <a:rPr lang="en-GH" dirty="0">
                <a:effectLst/>
                <a:latin typeface="Calibri" panose="020F0502020204030204" pitchFamily="34" charset="0"/>
                <a:ea typeface="Calibri" panose="020F0502020204030204" pitchFamily="34" charset="0"/>
                <a:cs typeface="Times New Roman" panose="02020603050405020304" pitchFamily="18" charset="0"/>
              </a:rPr>
            </a:br>
            <a:endParaRPr lang="en-GH" dirty="0"/>
          </a:p>
        </p:txBody>
      </p:sp>
    </p:spTree>
    <p:extLst>
      <p:ext uri="{BB962C8B-B14F-4D97-AF65-F5344CB8AC3E}">
        <p14:creationId xmlns:p14="http://schemas.microsoft.com/office/powerpoint/2010/main" val="3657283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771DC6-FE70-A0D3-08C0-F847CDD17413}"/>
              </a:ext>
            </a:extLst>
          </p:cNvPr>
          <p:cNvSpPr>
            <a:spLocks noGrp="1"/>
          </p:cNvSpPr>
          <p:nvPr>
            <p:ph idx="1"/>
          </p:nvPr>
        </p:nvSpPr>
        <p:spPr>
          <a:xfrm>
            <a:off x="838200" y="1750210"/>
            <a:ext cx="10515600" cy="4351338"/>
          </a:xfrm>
        </p:spPr>
        <p:txBody>
          <a:bodyPr>
            <a:normAutofit/>
          </a:bodyPr>
          <a:lstStyle/>
          <a:p>
            <a:pPr marL="0" indent="0">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The NLP field has seen tremendous advancements, but it also faces challenges, as we’ll discuss. Every day, technology providers and researchers are working to make NLP systems more robust, adaptable, and capable of understanding and generating human-like language. Those efforts will yield significant advancements in areas including language translation, virtual assistants, and text analysis. Let’s look at some specific challenges and opportunities.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83722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2E2C4-80DA-C9F6-89E4-44056D0C9967}"/>
              </a:ext>
            </a:extLst>
          </p:cNvPr>
          <p:cNvSpPr>
            <a:spLocks noGrp="1"/>
          </p:cNvSpPr>
          <p:nvPr>
            <p:ph type="title"/>
          </p:nvPr>
        </p:nvSpPr>
        <p:spPr>
          <a:xfrm>
            <a:off x="602530" y="2929216"/>
            <a:ext cx="10515600" cy="1325563"/>
          </a:xfrm>
        </p:spPr>
        <p:txBody>
          <a:bodyPr>
            <a:normAutofit/>
          </a:bodyPr>
          <a:lstStyle/>
          <a:p>
            <a:pPr algn="ctr"/>
            <a:r>
              <a:rPr lang="en-GH" sz="4400" b="1" dirty="0">
                <a:effectLst/>
                <a:latin typeface="inherit"/>
                <a:ea typeface="Times New Roman" panose="02020603050405020304" pitchFamily="18" charset="0"/>
                <a:cs typeface="Times New Roman" panose="02020603050405020304" pitchFamily="18" charset="0"/>
              </a:rPr>
              <a:t>Current Challenges</a:t>
            </a:r>
            <a:br>
              <a:rPr lang="en-GH" sz="4400" dirty="0">
                <a:effectLst/>
                <a:latin typeface="Calibri" panose="020F0502020204030204" pitchFamily="34" charset="0"/>
                <a:ea typeface="Calibri" panose="020F0502020204030204" pitchFamily="34" charset="0"/>
                <a:cs typeface="Times New Roman" panose="02020603050405020304" pitchFamily="18" charset="0"/>
              </a:rPr>
            </a:br>
            <a:endParaRPr lang="en-GH" dirty="0"/>
          </a:p>
        </p:txBody>
      </p:sp>
    </p:spTree>
    <p:extLst>
      <p:ext uri="{BB962C8B-B14F-4D97-AF65-F5344CB8AC3E}">
        <p14:creationId xmlns:p14="http://schemas.microsoft.com/office/powerpoint/2010/main" val="1326588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CBA87E-FD84-95DA-6380-4B951A8BF66F}"/>
              </a:ext>
            </a:extLst>
          </p:cNvPr>
          <p:cNvSpPr txBox="1"/>
          <p:nvPr/>
        </p:nvSpPr>
        <p:spPr>
          <a:xfrm>
            <a:off x="888476" y="2158739"/>
            <a:ext cx="10415047" cy="2374689"/>
          </a:xfrm>
          <a:prstGeom prst="rect">
            <a:avLst/>
          </a:prstGeom>
          <a:noFill/>
        </p:spPr>
        <p:txBody>
          <a:bodyPr wrap="square">
            <a:spAutoFit/>
          </a:bodyPr>
          <a:lstStyle/>
          <a:p>
            <a:pPr>
              <a:lnSpc>
                <a:spcPct val="107000"/>
              </a:lnSpc>
              <a:spcAft>
                <a:spcPts val="1320"/>
              </a:spcAft>
            </a:pPr>
            <a:r>
              <a:rPr lang="en-GH" sz="2800" dirty="0">
                <a:effectLst/>
                <a:latin typeface="Times New Roman" panose="02020603050405020304" pitchFamily="18" charset="0"/>
                <a:ea typeface="Times New Roman" panose="02020603050405020304" pitchFamily="18" charset="0"/>
                <a:cs typeface="Times New Roman" panose="02020603050405020304" pitchFamily="18" charset="0"/>
              </a:rPr>
              <a:t>Handling the complexity and ambiguity of human language, including understanding context, sarcasm, and nuances in different languages and dialects, is no small feat. NLP models often require vast amounts of </a:t>
            </a:r>
            <a:r>
              <a:rPr lang="en-GH" sz="2800" dirty="0" err="1">
                <a:effectLst/>
                <a:latin typeface="Times New Roman" panose="02020603050405020304" pitchFamily="18" charset="0"/>
                <a:ea typeface="Times New Roman" panose="02020603050405020304" pitchFamily="18" charset="0"/>
                <a:cs typeface="Times New Roman" panose="02020603050405020304" pitchFamily="18" charset="0"/>
              </a:rPr>
              <a:t>labeled</a:t>
            </a:r>
            <a:r>
              <a:rPr lang="en-GH" sz="2800" dirty="0">
                <a:effectLst/>
                <a:latin typeface="Times New Roman" panose="02020603050405020304" pitchFamily="18" charset="0"/>
                <a:ea typeface="Times New Roman" panose="02020603050405020304" pitchFamily="18" charset="0"/>
                <a:cs typeface="Times New Roman" panose="02020603050405020304" pitchFamily="18" charset="0"/>
              </a:rPr>
              <a:t> data for training, which can be time-consuming to create and expensive to acquire.</a:t>
            </a:r>
            <a:endParaRPr lang="en-GH"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615487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91D03-EC6B-D271-721B-EF089C810CB3}"/>
              </a:ext>
            </a:extLst>
          </p:cNvPr>
          <p:cNvSpPr>
            <a:spLocks noGrp="1"/>
          </p:cNvSpPr>
          <p:nvPr>
            <p:ph idx="1"/>
          </p:nvPr>
        </p:nvSpPr>
        <p:spPr>
          <a:xfrm>
            <a:off x="838200" y="1486260"/>
            <a:ext cx="10515600" cy="4351338"/>
          </a:xfrm>
        </p:spPr>
        <p:txBody>
          <a:bodyPr>
            <a:normAutofit/>
          </a:bodyPr>
          <a:lstStyle/>
          <a:p>
            <a:pPr marL="0" indent="0">
              <a:lnSpc>
                <a:spcPct val="107000"/>
              </a:lnSpc>
              <a:spcAft>
                <a:spcPts val="1320"/>
              </a:spcAft>
              <a:buNone/>
            </a:pP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What other challenges are researchers tackling?</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a:p>
            <a:r>
              <a:rPr lang="en-GH" b="1" dirty="0">
                <a:effectLst/>
                <a:latin typeface="Times New Roman" panose="02020603050405020304" pitchFamily="18" charset="0"/>
                <a:ea typeface="Times New Roman" panose="02020603050405020304" pitchFamily="18" charset="0"/>
              </a:rPr>
              <a:t>Computational costs</a:t>
            </a:r>
            <a:r>
              <a:rPr lang="en-GH" dirty="0">
                <a:effectLst/>
                <a:latin typeface="Times New Roman" panose="02020603050405020304" pitchFamily="18" charset="0"/>
                <a:ea typeface="Times New Roman" panose="02020603050405020304" pitchFamily="18" charset="0"/>
              </a:rPr>
              <a:t>: As AI models increase in size and complexity, costs go up based on the number of computing cycles needed to accomplish tasks. Even with recent innovations in </a:t>
            </a:r>
            <a:r>
              <a:rPr lang="en-GH" u="none" strike="noStrike" dirty="0">
                <a:solidFill>
                  <a:srgbClr val="006B8F"/>
                </a:solidFill>
                <a:effectLst/>
                <a:latin typeface="Times New Roman" panose="02020603050405020304" pitchFamily="18" charset="0"/>
                <a:ea typeface="Times New Roman" panose="02020603050405020304" pitchFamily="18" charset="0"/>
                <a:hlinkClick r:id="rId2"/>
              </a:rPr>
              <a:t>reinforcement learning</a:t>
            </a:r>
            <a:r>
              <a:rPr lang="en-GH" dirty="0">
                <a:effectLst/>
                <a:latin typeface="Times New Roman" panose="02020603050405020304" pitchFamily="18" charset="0"/>
                <a:ea typeface="Times New Roman" panose="02020603050405020304" pitchFamily="18" charset="0"/>
              </a:rPr>
              <a:t>, which can lower the time and cost of training regimens, NLP can still be expensive to run in production. ML engineers are exploring more efficient architectures and using methods such as model pruning and quantization in addition to reinforcement learning to lower computational costs.</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70547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6205AC-FD54-D413-90F7-68EEB2EBF375}"/>
              </a:ext>
            </a:extLst>
          </p:cNvPr>
          <p:cNvSpPr>
            <a:spLocks noGrp="1"/>
          </p:cNvSpPr>
          <p:nvPr>
            <p:ph idx="1"/>
          </p:nvPr>
        </p:nvSpPr>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Data bias</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Depending on the data sets used to train them, NLP models may be prone to generating text that’s skewed toward a particular group—simply mimicking the diction or dialect represented in the training data set. To overcome this, trainers must be aware if a particular demographic or context is overrepresented in the data set so they can augment it with more diverse language varieties. Fairness-aware algorithms can help you detect bias if you’re training your own LLMs.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65342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D56781-D743-93EF-5DCC-1C893624E4BE}"/>
              </a:ext>
            </a:extLst>
          </p:cNvPr>
          <p:cNvSpPr>
            <a:spLocks noGrp="1"/>
          </p:cNvSpPr>
          <p:nvPr>
            <p:ph idx="1"/>
          </p:nvPr>
        </p:nvSpPr>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Interpretability</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Interpretability in NLP is the ability to understand and explain the model’s outputs. This can be a challenge, especially with advanced LLMs where the internal workings are complex and, frankly, opaque. In settings where explaining the model’s reasoning is important, such as in legal, healthcare, and insurance decisions, interpretability is a must. As a result, there are a growing number of strategies to make model output more interpretable, including, most notably, reinforcement learning, as well as linear regression, decision trees, and a range of feature engineering techniques.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74176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219F-9C32-6DA2-578D-44B1598AEF7E}"/>
              </a:ext>
            </a:extLst>
          </p:cNvPr>
          <p:cNvSpPr>
            <a:spLocks noGrp="1"/>
          </p:cNvSpPr>
          <p:nvPr>
            <p:ph type="title"/>
          </p:nvPr>
        </p:nvSpPr>
        <p:spPr>
          <a:xfrm>
            <a:off x="649664" y="2766218"/>
            <a:ext cx="10515600" cy="1325563"/>
          </a:xfrm>
        </p:spPr>
        <p:txBody>
          <a:bodyPr>
            <a:normAutofit/>
          </a:bodyPr>
          <a:lstStyle/>
          <a:p>
            <a:pPr algn="ctr"/>
            <a:r>
              <a:rPr lang="en-GH" b="1" dirty="0">
                <a:effectLst/>
                <a:latin typeface="inherit"/>
                <a:ea typeface="Times New Roman" panose="02020603050405020304" pitchFamily="18" charset="0"/>
                <a:cs typeface="Times New Roman" panose="02020603050405020304" pitchFamily="18" charset="0"/>
              </a:rPr>
              <a:t>Future Trends</a:t>
            </a:r>
            <a:br>
              <a:rPr lang="en-GH" dirty="0">
                <a:effectLst/>
                <a:latin typeface="Calibri" panose="020F0502020204030204" pitchFamily="34" charset="0"/>
                <a:ea typeface="Calibri" panose="020F0502020204030204" pitchFamily="34" charset="0"/>
                <a:cs typeface="Times New Roman" panose="02020603050405020304" pitchFamily="18" charset="0"/>
              </a:rPr>
            </a:br>
            <a:endParaRPr lang="en-GH" dirty="0"/>
          </a:p>
        </p:txBody>
      </p:sp>
    </p:spTree>
    <p:extLst>
      <p:ext uri="{BB962C8B-B14F-4D97-AF65-F5344CB8AC3E}">
        <p14:creationId xmlns:p14="http://schemas.microsoft.com/office/powerpoint/2010/main" val="3547337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E04593-1FC2-831E-B586-B7C5EEC95A0C}"/>
              </a:ext>
            </a:extLst>
          </p:cNvPr>
          <p:cNvSpPr>
            <a:spLocks noGrp="1"/>
          </p:cNvSpPr>
          <p:nvPr>
            <p:ph idx="1"/>
          </p:nvPr>
        </p:nvSpPr>
        <p:spPr>
          <a:xfrm>
            <a:off x="838200" y="1253331"/>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rPr>
              <a:t>Advances in foundation models</a:t>
            </a:r>
            <a:r>
              <a:rPr lang="en-GH" dirty="0">
                <a:effectLst/>
                <a:latin typeface="Times New Roman" panose="02020603050405020304" pitchFamily="18" charset="0"/>
                <a:ea typeface="Times New Roman" panose="02020603050405020304" pitchFamily="18" charset="0"/>
              </a:rPr>
              <a:t>: Foundation models, such as Cohere, Llama, BERT, and GPT, continue to evolve, and the number of available models continues to grow. Some are becoming more sophisticated and versatile, while others focus on simplicity and targeted use, allowing them to be used for a wide range of tasks with minimal additional training and lower computational costs. Larger models are growing in versatility by integrating multimodal data, including text, images, video, and audio. Look for advances in architecture and infrastructure design, including recent developments in reinforcement learning, to accommodate complexity and scale while keeping costs in check</a:t>
            </a:r>
            <a:endParaRPr lang="en-GH" dirty="0"/>
          </a:p>
        </p:txBody>
      </p:sp>
    </p:spTree>
    <p:extLst>
      <p:ext uri="{BB962C8B-B14F-4D97-AF65-F5344CB8AC3E}">
        <p14:creationId xmlns:p14="http://schemas.microsoft.com/office/powerpoint/2010/main" val="2353011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25B746-FCDB-20EC-041B-002F3B5A9A59}"/>
              </a:ext>
            </a:extLst>
          </p:cNvPr>
          <p:cNvSpPr>
            <a:spLocks noGrp="1"/>
          </p:cNvSpPr>
          <p:nvPr>
            <p:ph idx="1"/>
          </p:nvPr>
        </p:nvSpPr>
        <p:spPr>
          <a:xfrm>
            <a:off x="838200" y="1589955"/>
            <a:ext cx="10515600" cy="4351338"/>
          </a:xfrm>
        </p:spPr>
        <p:txBody>
          <a:bodyPr>
            <a:normAutofit/>
          </a:bodyPr>
          <a:lstStyle/>
          <a:p>
            <a:r>
              <a:rPr lang="en-GH" b="1" dirty="0">
                <a:effectLst/>
                <a:latin typeface="Times New Roman" panose="02020603050405020304" pitchFamily="18" charset="0"/>
                <a:ea typeface="Times New Roman" panose="02020603050405020304" pitchFamily="18" charset="0"/>
                <a:cs typeface="Times New Roman" panose="02020603050405020304" pitchFamily="18" charset="0"/>
              </a:rPr>
              <a:t>Improved understanding and generation</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Although NLP has been in use for decades, it continues to make leaps in language understanding and generation, thanks to techniques that better capture the nuances of language, including context, sentiment, and intent. Look for NLP systems to continue to improve at tasks like machine translation, summarization, and natural language conversations with humans—especially as RAG architectures and </a:t>
            </a:r>
            <a:r>
              <a:rPr lang="en-GH" u="none" strike="noStrike" dirty="0">
                <a:solidFill>
                  <a:srgbClr val="006B8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knowledge graph</a:t>
            </a:r>
            <a:r>
              <a:rPr lang="en-GH" dirty="0">
                <a:effectLst/>
                <a:latin typeface="Times New Roman" panose="02020603050405020304" pitchFamily="18" charset="0"/>
                <a:ea typeface="Times New Roman" panose="02020603050405020304" pitchFamily="18" charset="0"/>
                <a:cs typeface="Times New Roman" panose="02020603050405020304" pitchFamily="18" charset="0"/>
              </a:rPr>
              <a:t> technologies bring more contextually rich and accurate content to real world business applications.</a:t>
            </a:r>
            <a:endParaRPr lang="en-GH"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0945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F81AB-AAF6-36F7-A932-2C1709FD43FE}"/>
              </a:ext>
            </a:extLst>
          </p:cNvPr>
          <p:cNvSpPr>
            <a:spLocks noGrp="1"/>
          </p:cNvSpPr>
          <p:nvPr>
            <p:ph type="title"/>
          </p:nvPr>
        </p:nvSpPr>
        <p:spPr>
          <a:xfrm>
            <a:off x="564822" y="2618131"/>
            <a:ext cx="10515600" cy="1325563"/>
          </a:xfrm>
        </p:spPr>
        <p:txBody>
          <a:bodyPr>
            <a:normAutofit/>
          </a:bodyPr>
          <a:lstStyle/>
          <a:p>
            <a:pPr algn="ctr"/>
            <a:r>
              <a:rPr lang="en-US" b="1" dirty="0">
                <a:latin typeface="inherit"/>
                <a:cs typeface="Times New Roman" panose="02020603050405020304" pitchFamily="18" charset="0"/>
              </a:rPr>
              <a:t>THANK TOU</a:t>
            </a:r>
            <a:endParaRPr lang="en-GH" dirty="0"/>
          </a:p>
        </p:txBody>
      </p:sp>
    </p:spTree>
    <p:extLst>
      <p:ext uri="{BB962C8B-B14F-4D97-AF65-F5344CB8AC3E}">
        <p14:creationId xmlns:p14="http://schemas.microsoft.com/office/powerpoint/2010/main" val="193172170"/>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101</TotalTime>
  <Words>3187</Words>
  <Application>Microsoft Office PowerPoint</Application>
  <PresentationFormat>Widescreen</PresentationFormat>
  <Paragraphs>54</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Century Gothic</vt:lpstr>
      <vt:lpstr>inherit</vt:lpstr>
      <vt:lpstr>Symbol</vt:lpstr>
      <vt:lpstr>Times New Roman</vt:lpstr>
      <vt:lpstr>Vapor Trail</vt:lpstr>
      <vt:lpstr>NATURAL LANGUAGE PROCESSING</vt:lpstr>
      <vt:lpstr>What Is Natural  Language Processing NLP?</vt:lpstr>
      <vt:lpstr>PowerPoint Presentation</vt:lpstr>
      <vt:lpstr>Definition and Overview</vt:lpstr>
      <vt:lpstr>PowerPoint Presentation</vt:lpstr>
      <vt:lpstr>PowerPoint Presentation</vt:lpstr>
      <vt:lpstr>Why Is NLP Important?</vt:lpstr>
      <vt:lpstr>PowerPoint Presentation</vt:lpstr>
      <vt:lpstr>Applications of NLP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NLP Works</vt:lpstr>
      <vt:lpstr>PowerPoint Presentation</vt:lpstr>
      <vt:lpstr>PowerPoint Presentation</vt:lpstr>
      <vt:lpstr>PowerPoint Presentation</vt:lpstr>
      <vt:lpstr>PowerPoint Presentation</vt:lpstr>
      <vt:lpstr>PowerPoint Presentation</vt:lpstr>
      <vt:lpstr>PowerPoint Presentation</vt:lpstr>
      <vt:lpstr>NLP Implementation Steps</vt:lpstr>
      <vt:lpstr>PowerPoint Presentation</vt:lpstr>
      <vt:lpstr>PowerPoint Presentation</vt:lpstr>
      <vt:lpstr>PowerPoint Presentation</vt:lpstr>
      <vt:lpstr>Key NLP Techniques and Tasks </vt:lpstr>
      <vt:lpstr>PowerPoint Presentation</vt:lpstr>
      <vt:lpstr>PowerPoint Presentation</vt:lpstr>
      <vt:lpstr>PowerPoint Presentation</vt:lpstr>
      <vt:lpstr>PowerPoint Presentation</vt:lpstr>
      <vt:lpstr>NLP in Various Industries </vt:lpstr>
      <vt:lpstr>PowerPoint Presentation</vt:lpstr>
      <vt:lpstr>PowerPoint Presentation</vt:lpstr>
      <vt:lpstr>PowerPoint Presentation</vt:lpstr>
      <vt:lpstr>Challenges and Future of NLP </vt:lpstr>
      <vt:lpstr>PowerPoint Presentation</vt:lpstr>
      <vt:lpstr>Current Challenges </vt:lpstr>
      <vt:lpstr>PowerPoint Presentation</vt:lpstr>
      <vt:lpstr>PowerPoint Presentation</vt:lpstr>
      <vt:lpstr>PowerPoint Presentation</vt:lpstr>
      <vt:lpstr>PowerPoint Presentation</vt:lpstr>
      <vt:lpstr>Future Trends </vt:lpstr>
      <vt:lpstr>PowerPoint Presentation</vt:lpstr>
      <vt:lpstr>PowerPoint Presentation</vt:lpstr>
      <vt:lpstr>THANK TOU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NLP(Natural Language Processing)? </dc:title>
  <dc:creator>Thomas Zubil</dc:creator>
  <cp:lastModifiedBy>elder mahlon</cp:lastModifiedBy>
  <cp:revision>2</cp:revision>
  <dcterms:created xsi:type="dcterms:W3CDTF">2026-06-05T16:56:51Z</dcterms:created>
  <dcterms:modified xsi:type="dcterms:W3CDTF">2026-06-08T17:08:41Z</dcterms:modified>
</cp:coreProperties>
</file>